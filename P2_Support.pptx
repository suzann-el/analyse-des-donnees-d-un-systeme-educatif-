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7" r:id="rId4"/>
    <p:sldId id="258" r:id="rId5"/>
    <p:sldId id="261" r:id="rId6"/>
    <p:sldId id="284" r:id="rId7"/>
    <p:sldId id="263" r:id="rId8"/>
    <p:sldId id="285" r:id="rId9"/>
    <p:sldId id="266" r:id="rId10"/>
    <p:sldId id="286" r:id="rId11"/>
    <p:sldId id="268" r:id="rId12"/>
    <p:sldId id="294" r:id="rId13"/>
    <p:sldId id="274" r:id="rId14"/>
    <p:sldId id="271" r:id="rId15"/>
    <p:sldId id="272" r:id="rId16"/>
    <p:sldId id="273" r:id="rId17"/>
    <p:sldId id="290" r:id="rId18"/>
    <p:sldId id="287" r:id="rId19"/>
    <p:sldId id="288" r:id="rId20"/>
    <p:sldId id="289" r:id="rId21"/>
    <p:sldId id="293" r:id="rId22"/>
    <p:sldId id="291" r:id="rId23"/>
    <p:sldId id="292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CF4847-BBE8-43DB-9405-387CB226AAD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344CCB-864A-47B9-A541-463B72ABF95D}">
      <dgm:prSet custT="1"/>
      <dgm:spPr/>
      <dgm:t>
        <a:bodyPr/>
        <a:lstStyle/>
        <a:p>
          <a:r>
            <a:rPr lang="fr-FR" sz="2800" dirty="0">
              <a:solidFill>
                <a:schemeClr val="tx2"/>
              </a:solidFill>
            </a:rPr>
            <a:t>Le jeu de données et les liens entre les différentes tables.</a:t>
          </a:r>
          <a:endParaRPr lang="en-US" sz="2800" dirty="0">
            <a:solidFill>
              <a:schemeClr val="tx2"/>
            </a:solidFill>
          </a:endParaRPr>
        </a:p>
      </dgm:t>
    </dgm:pt>
    <dgm:pt modelId="{8F75B201-D6C2-4FBF-8F4A-94BF8695CF13}" type="parTrans" cxnId="{7E312171-DA64-473E-9CC5-736A722608FE}">
      <dgm:prSet/>
      <dgm:spPr/>
      <dgm:t>
        <a:bodyPr/>
        <a:lstStyle/>
        <a:p>
          <a:endParaRPr lang="en-US"/>
        </a:p>
      </dgm:t>
    </dgm:pt>
    <dgm:pt modelId="{CC049DEF-599C-4C51-A15A-379DA1286965}" type="sibTrans" cxnId="{7E312171-DA64-473E-9CC5-736A722608FE}">
      <dgm:prSet/>
      <dgm:spPr/>
      <dgm:t>
        <a:bodyPr/>
        <a:lstStyle/>
        <a:p>
          <a:endParaRPr lang="en-US"/>
        </a:p>
      </dgm:t>
    </dgm:pt>
    <dgm:pt modelId="{6BF46B49-E0D1-4ED0-A749-7335BC3CB2BC}">
      <dgm:prSet custT="1"/>
      <dgm:spPr/>
      <dgm:t>
        <a:bodyPr/>
        <a:lstStyle/>
        <a:p>
          <a:r>
            <a:rPr lang="fr-FR" sz="2800" dirty="0">
              <a:solidFill>
                <a:schemeClr val="tx2"/>
              </a:solidFill>
            </a:rPr>
            <a:t>Compréhension des variables.</a:t>
          </a:r>
          <a:endParaRPr lang="en-US" sz="2800" dirty="0">
            <a:solidFill>
              <a:schemeClr val="tx2"/>
            </a:solidFill>
          </a:endParaRPr>
        </a:p>
      </dgm:t>
    </dgm:pt>
    <dgm:pt modelId="{6D963586-5ED0-4E88-BF54-1CAD1A39C002}" type="parTrans" cxnId="{DFA40359-E483-4C51-96D7-5FAA7F395581}">
      <dgm:prSet/>
      <dgm:spPr/>
      <dgm:t>
        <a:bodyPr/>
        <a:lstStyle/>
        <a:p>
          <a:endParaRPr lang="en-US"/>
        </a:p>
      </dgm:t>
    </dgm:pt>
    <dgm:pt modelId="{F999011C-7A69-4FD6-A888-28F2CABB92EE}" type="sibTrans" cxnId="{DFA40359-E483-4C51-96D7-5FAA7F395581}">
      <dgm:prSet/>
      <dgm:spPr/>
      <dgm:t>
        <a:bodyPr/>
        <a:lstStyle/>
        <a:p>
          <a:endParaRPr lang="en-US"/>
        </a:p>
      </dgm:t>
    </dgm:pt>
    <dgm:pt modelId="{31E77A4E-41BC-461C-88E2-C841BA171FF4}">
      <dgm:prSet custT="1"/>
      <dgm:spPr/>
      <dgm:t>
        <a:bodyPr/>
        <a:lstStyle/>
        <a:p>
          <a:r>
            <a:rPr lang="fr-FR" sz="2800" dirty="0">
              <a:solidFill>
                <a:schemeClr val="tx2"/>
              </a:solidFill>
            </a:rPr>
            <a:t>Qualité du jeu de données</a:t>
          </a:r>
          <a:r>
            <a:rPr lang="fr-FR" sz="2800" dirty="0"/>
            <a:t>.</a:t>
          </a:r>
          <a:endParaRPr lang="en-US" sz="2800" dirty="0"/>
        </a:p>
      </dgm:t>
    </dgm:pt>
    <dgm:pt modelId="{E20CF624-D973-4BC3-9044-F2A904DE8F3E}" type="parTrans" cxnId="{1DA7F00B-A2CE-4D06-9F48-EC6101228BEF}">
      <dgm:prSet/>
      <dgm:spPr/>
      <dgm:t>
        <a:bodyPr/>
        <a:lstStyle/>
        <a:p>
          <a:endParaRPr lang="en-US"/>
        </a:p>
      </dgm:t>
    </dgm:pt>
    <dgm:pt modelId="{FE15C55D-29A9-491E-9353-AFCF0EEBBC67}" type="sibTrans" cxnId="{1DA7F00B-A2CE-4D06-9F48-EC6101228BEF}">
      <dgm:prSet/>
      <dgm:spPr/>
      <dgm:t>
        <a:bodyPr/>
        <a:lstStyle/>
        <a:p>
          <a:endParaRPr lang="en-US"/>
        </a:p>
      </dgm:t>
    </dgm:pt>
    <dgm:pt modelId="{0D8BBF15-FD8A-46AA-8CBE-69AC353529C3}" type="pres">
      <dgm:prSet presAssocID="{56CF4847-BBE8-43DB-9405-387CB226AADE}" presName="vert0" presStyleCnt="0">
        <dgm:presLayoutVars>
          <dgm:dir/>
          <dgm:animOne val="branch"/>
          <dgm:animLvl val="lvl"/>
        </dgm:presLayoutVars>
      </dgm:prSet>
      <dgm:spPr/>
    </dgm:pt>
    <dgm:pt modelId="{0647AA21-6FDD-43DA-9214-B847762D42BC}" type="pres">
      <dgm:prSet presAssocID="{F5344CCB-864A-47B9-A541-463B72ABF95D}" presName="thickLine" presStyleLbl="alignNode1" presStyleIdx="0" presStyleCnt="3"/>
      <dgm:spPr/>
    </dgm:pt>
    <dgm:pt modelId="{9D45658D-4582-4150-AE50-14819A8E5745}" type="pres">
      <dgm:prSet presAssocID="{F5344CCB-864A-47B9-A541-463B72ABF95D}" presName="horz1" presStyleCnt="0"/>
      <dgm:spPr/>
    </dgm:pt>
    <dgm:pt modelId="{D47A5B94-8FBF-4737-A636-BC180DB38D5D}" type="pres">
      <dgm:prSet presAssocID="{F5344CCB-864A-47B9-A541-463B72ABF95D}" presName="tx1" presStyleLbl="revTx" presStyleIdx="0" presStyleCnt="3"/>
      <dgm:spPr/>
    </dgm:pt>
    <dgm:pt modelId="{30DEB82B-EA92-4151-9E6F-A3A70ADEA02D}" type="pres">
      <dgm:prSet presAssocID="{F5344CCB-864A-47B9-A541-463B72ABF95D}" presName="vert1" presStyleCnt="0"/>
      <dgm:spPr/>
    </dgm:pt>
    <dgm:pt modelId="{C4982ECC-D34A-4F9F-8048-57FBF8228C0B}" type="pres">
      <dgm:prSet presAssocID="{6BF46B49-E0D1-4ED0-A749-7335BC3CB2BC}" presName="thickLine" presStyleLbl="alignNode1" presStyleIdx="1" presStyleCnt="3"/>
      <dgm:spPr/>
    </dgm:pt>
    <dgm:pt modelId="{8E7838A0-D4CA-4C1F-B2F3-23D5272A7791}" type="pres">
      <dgm:prSet presAssocID="{6BF46B49-E0D1-4ED0-A749-7335BC3CB2BC}" presName="horz1" presStyleCnt="0"/>
      <dgm:spPr/>
    </dgm:pt>
    <dgm:pt modelId="{ABDED1AB-E858-4FBE-80A7-645E50A47320}" type="pres">
      <dgm:prSet presAssocID="{6BF46B49-E0D1-4ED0-A749-7335BC3CB2BC}" presName="tx1" presStyleLbl="revTx" presStyleIdx="1" presStyleCnt="3"/>
      <dgm:spPr/>
    </dgm:pt>
    <dgm:pt modelId="{733D91DF-17CE-4E02-BBC8-85D060C0607F}" type="pres">
      <dgm:prSet presAssocID="{6BF46B49-E0D1-4ED0-A749-7335BC3CB2BC}" presName="vert1" presStyleCnt="0"/>
      <dgm:spPr/>
    </dgm:pt>
    <dgm:pt modelId="{7E518DAC-29A8-4F0E-A37A-E8369E41C9A7}" type="pres">
      <dgm:prSet presAssocID="{31E77A4E-41BC-461C-88E2-C841BA171FF4}" presName="thickLine" presStyleLbl="alignNode1" presStyleIdx="2" presStyleCnt="3"/>
      <dgm:spPr/>
    </dgm:pt>
    <dgm:pt modelId="{2C61F2E8-F397-46AA-A96A-A41E94D216E3}" type="pres">
      <dgm:prSet presAssocID="{31E77A4E-41BC-461C-88E2-C841BA171FF4}" presName="horz1" presStyleCnt="0"/>
      <dgm:spPr/>
    </dgm:pt>
    <dgm:pt modelId="{EAE62BB9-28D2-4B3B-8913-D99F109EA5F6}" type="pres">
      <dgm:prSet presAssocID="{31E77A4E-41BC-461C-88E2-C841BA171FF4}" presName="tx1" presStyleLbl="revTx" presStyleIdx="2" presStyleCnt="3"/>
      <dgm:spPr/>
    </dgm:pt>
    <dgm:pt modelId="{6C397E6C-B629-4DF4-8659-BEEBBF6B7871}" type="pres">
      <dgm:prSet presAssocID="{31E77A4E-41BC-461C-88E2-C841BA171FF4}" presName="vert1" presStyleCnt="0"/>
      <dgm:spPr/>
    </dgm:pt>
  </dgm:ptLst>
  <dgm:cxnLst>
    <dgm:cxn modelId="{1DA7F00B-A2CE-4D06-9F48-EC6101228BEF}" srcId="{56CF4847-BBE8-43DB-9405-387CB226AADE}" destId="{31E77A4E-41BC-461C-88E2-C841BA171FF4}" srcOrd="2" destOrd="0" parTransId="{E20CF624-D973-4BC3-9044-F2A904DE8F3E}" sibTransId="{FE15C55D-29A9-491E-9353-AFCF0EEBBC67}"/>
    <dgm:cxn modelId="{13EC3E40-D9C5-4A7C-A264-706CF28EEFF0}" type="presOf" srcId="{F5344CCB-864A-47B9-A541-463B72ABF95D}" destId="{D47A5B94-8FBF-4737-A636-BC180DB38D5D}" srcOrd="0" destOrd="0" presId="urn:microsoft.com/office/officeart/2008/layout/LinedList"/>
    <dgm:cxn modelId="{075EB565-367E-4AB7-BAD2-B4C6B07F895B}" type="presOf" srcId="{6BF46B49-E0D1-4ED0-A749-7335BC3CB2BC}" destId="{ABDED1AB-E858-4FBE-80A7-645E50A47320}" srcOrd="0" destOrd="0" presId="urn:microsoft.com/office/officeart/2008/layout/LinedList"/>
    <dgm:cxn modelId="{7E312171-DA64-473E-9CC5-736A722608FE}" srcId="{56CF4847-BBE8-43DB-9405-387CB226AADE}" destId="{F5344CCB-864A-47B9-A541-463B72ABF95D}" srcOrd="0" destOrd="0" parTransId="{8F75B201-D6C2-4FBF-8F4A-94BF8695CF13}" sibTransId="{CC049DEF-599C-4C51-A15A-379DA1286965}"/>
    <dgm:cxn modelId="{DFA40359-E483-4C51-96D7-5FAA7F395581}" srcId="{56CF4847-BBE8-43DB-9405-387CB226AADE}" destId="{6BF46B49-E0D1-4ED0-A749-7335BC3CB2BC}" srcOrd="1" destOrd="0" parTransId="{6D963586-5ED0-4E88-BF54-1CAD1A39C002}" sibTransId="{F999011C-7A69-4FD6-A888-28F2CABB92EE}"/>
    <dgm:cxn modelId="{D6934C80-A139-4512-8B32-23995357ACE8}" type="presOf" srcId="{31E77A4E-41BC-461C-88E2-C841BA171FF4}" destId="{EAE62BB9-28D2-4B3B-8913-D99F109EA5F6}" srcOrd="0" destOrd="0" presId="urn:microsoft.com/office/officeart/2008/layout/LinedList"/>
    <dgm:cxn modelId="{731F91C4-84BA-4CDF-B3F5-BD6B78339CF0}" type="presOf" srcId="{56CF4847-BBE8-43DB-9405-387CB226AADE}" destId="{0D8BBF15-FD8A-46AA-8CBE-69AC353529C3}" srcOrd="0" destOrd="0" presId="urn:microsoft.com/office/officeart/2008/layout/LinedList"/>
    <dgm:cxn modelId="{3300D62F-5B5F-4CFC-8E34-AD13F672FFD5}" type="presParOf" srcId="{0D8BBF15-FD8A-46AA-8CBE-69AC353529C3}" destId="{0647AA21-6FDD-43DA-9214-B847762D42BC}" srcOrd="0" destOrd="0" presId="urn:microsoft.com/office/officeart/2008/layout/LinedList"/>
    <dgm:cxn modelId="{43B4A359-76B3-4D11-B16B-8C1983AD6B5E}" type="presParOf" srcId="{0D8BBF15-FD8A-46AA-8CBE-69AC353529C3}" destId="{9D45658D-4582-4150-AE50-14819A8E5745}" srcOrd="1" destOrd="0" presId="urn:microsoft.com/office/officeart/2008/layout/LinedList"/>
    <dgm:cxn modelId="{93342C6D-AAA3-43DC-BF2F-0AA6ACA0B399}" type="presParOf" srcId="{9D45658D-4582-4150-AE50-14819A8E5745}" destId="{D47A5B94-8FBF-4737-A636-BC180DB38D5D}" srcOrd="0" destOrd="0" presId="urn:microsoft.com/office/officeart/2008/layout/LinedList"/>
    <dgm:cxn modelId="{59A27442-E5C9-4862-BDA2-0AA222631053}" type="presParOf" srcId="{9D45658D-4582-4150-AE50-14819A8E5745}" destId="{30DEB82B-EA92-4151-9E6F-A3A70ADEA02D}" srcOrd="1" destOrd="0" presId="urn:microsoft.com/office/officeart/2008/layout/LinedList"/>
    <dgm:cxn modelId="{46982C30-60F9-45BA-B7DD-271E7E32F0D0}" type="presParOf" srcId="{0D8BBF15-FD8A-46AA-8CBE-69AC353529C3}" destId="{C4982ECC-D34A-4F9F-8048-57FBF8228C0B}" srcOrd="2" destOrd="0" presId="urn:microsoft.com/office/officeart/2008/layout/LinedList"/>
    <dgm:cxn modelId="{CAE15325-6DEF-44FC-BD26-C6B3A8049156}" type="presParOf" srcId="{0D8BBF15-FD8A-46AA-8CBE-69AC353529C3}" destId="{8E7838A0-D4CA-4C1F-B2F3-23D5272A7791}" srcOrd="3" destOrd="0" presId="urn:microsoft.com/office/officeart/2008/layout/LinedList"/>
    <dgm:cxn modelId="{7F1A009A-560B-4485-AB70-791AD5B9040B}" type="presParOf" srcId="{8E7838A0-D4CA-4C1F-B2F3-23D5272A7791}" destId="{ABDED1AB-E858-4FBE-80A7-645E50A47320}" srcOrd="0" destOrd="0" presId="urn:microsoft.com/office/officeart/2008/layout/LinedList"/>
    <dgm:cxn modelId="{EAB7ED63-5BF1-4508-8459-464D56479461}" type="presParOf" srcId="{8E7838A0-D4CA-4C1F-B2F3-23D5272A7791}" destId="{733D91DF-17CE-4E02-BBC8-85D060C0607F}" srcOrd="1" destOrd="0" presId="urn:microsoft.com/office/officeart/2008/layout/LinedList"/>
    <dgm:cxn modelId="{73E3C1B4-47A6-4C46-A5BF-29E31E70E00F}" type="presParOf" srcId="{0D8BBF15-FD8A-46AA-8CBE-69AC353529C3}" destId="{7E518DAC-29A8-4F0E-A37A-E8369E41C9A7}" srcOrd="4" destOrd="0" presId="urn:microsoft.com/office/officeart/2008/layout/LinedList"/>
    <dgm:cxn modelId="{FA73C88A-AD32-44EC-AF59-96804A034A2A}" type="presParOf" srcId="{0D8BBF15-FD8A-46AA-8CBE-69AC353529C3}" destId="{2C61F2E8-F397-46AA-A96A-A41E94D216E3}" srcOrd="5" destOrd="0" presId="urn:microsoft.com/office/officeart/2008/layout/LinedList"/>
    <dgm:cxn modelId="{92D2E32D-0F5C-49F9-818D-E7823E8403BE}" type="presParOf" srcId="{2C61F2E8-F397-46AA-A96A-A41E94D216E3}" destId="{EAE62BB9-28D2-4B3B-8913-D99F109EA5F6}" srcOrd="0" destOrd="0" presId="urn:microsoft.com/office/officeart/2008/layout/LinedList"/>
    <dgm:cxn modelId="{7424E292-CDC2-4115-8BF8-F8D7B4316CCD}" type="presParOf" srcId="{2C61F2E8-F397-46AA-A96A-A41E94D216E3}" destId="{6C397E6C-B629-4DF4-8659-BEEBBF6B78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9E2FC1-8EA2-42A9-AC59-5DFFEBE7427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F780093-E51D-4440-8507-35EB14BD5703}">
      <dgm:prSet phldrT="[Texte]" phldr="0"/>
      <dgm:spPr/>
      <dgm:t>
        <a:bodyPr/>
        <a:lstStyle/>
        <a:p>
          <a:pPr rtl="0"/>
          <a:r>
            <a:rPr lang="fr-FR" dirty="0">
              <a:solidFill>
                <a:schemeClr val="bg1"/>
              </a:solidFill>
              <a:latin typeface="Walbaum Display"/>
            </a:rPr>
            <a:t>Data : évolution des indicateurs avec projection dans le temps</a:t>
          </a:r>
          <a:endParaRPr lang="fr-FR" dirty="0">
            <a:solidFill>
              <a:schemeClr val="bg1"/>
            </a:solidFill>
          </a:endParaRPr>
        </a:p>
      </dgm:t>
    </dgm:pt>
    <dgm:pt modelId="{A29AA1EE-B1A1-429E-A5AC-88B88030AA34}" type="parTrans" cxnId="{2F453D8E-17B1-4A07-9239-DA076C5B7A0C}">
      <dgm:prSet/>
      <dgm:spPr/>
      <dgm:t>
        <a:bodyPr/>
        <a:lstStyle/>
        <a:p>
          <a:endParaRPr lang="fr-FR"/>
        </a:p>
      </dgm:t>
    </dgm:pt>
    <dgm:pt modelId="{D5713CFA-9CF3-4130-ABFB-53940D9F28FD}" type="sibTrans" cxnId="{2F453D8E-17B1-4A07-9239-DA076C5B7A0C}">
      <dgm:prSet/>
      <dgm:spPr/>
      <dgm:t>
        <a:bodyPr/>
        <a:lstStyle/>
        <a:p>
          <a:endParaRPr lang="fr-FR"/>
        </a:p>
      </dgm:t>
    </dgm:pt>
    <dgm:pt modelId="{9EF39828-DEAD-470A-86D4-DA834954E265}">
      <dgm:prSet phldrT="[Texte]" phldr="0"/>
      <dgm:spPr/>
      <dgm:t>
        <a:bodyPr/>
        <a:lstStyle/>
        <a:p>
          <a:pPr rtl="0"/>
          <a:r>
            <a:rPr lang="fr-FR" dirty="0">
              <a:solidFill>
                <a:schemeClr val="bg1"/>
              </a:solidFill>
              <a:latin typeface="Walbaum Display"/>
            </a:rPr>
            <a:t>Séries : définition des indicateurs</a:t>
          </a:r>
          <a:endParaRPr lang="fr-FR" dirty="0">
            <a:solidFill>
              <a:schemeClr val="bg1"/>
            </a:solidFill>
          </a:endParaRPr>
        </a:p>
      </dgm:t>
    </dgm:pt>
    <dgm:pt modelId="{56DFD39C-1341-4364-B1A1-BD79E77FCA0A}" type="parTrans" cxnId="{0D6D6C30-5299-4445-AF2D-496D082A487B}">
      <dgm:prSet/>
      <dgm:spPr/>
      <dgm:t>
        <a:bodyPr/>
        <a:lstStyle/>
        <a:p>
          <a:endParaRPr lang="fr-FR"/>
        </a:p>
      </dgm:t>
    </dgm:pt>
    <dgm:pt modelId="{749037A2-A3A5-4887-8908-7745ED9A2251}" type="sibTrans" cxnId="{0D6D6C30-5299-4445-AF2D-496D082A487B}">
      <dgm:prSet/>
      <dgm:spPr/>
      <dgm:t>
        <a:bodyPr/>
        <a:lstStyle/>
        <a:p>
          <a:endParaRPr lang="fr-FR"/>
        </a:p>
      </dgm:t>
    </dgm:pt>
    <dgm:pt modelId="{6D524B5C-3C52-488E-83FC-B84DAA87DF48}">
      <dgm:prSet phldrT="[Texte]" phldr="0"/>
      <dgm:spPr/>
      <dgm:t>
        <a:bodyPr/>
        <a:lstStyle/>
        <a:p>
          <a:pPr rtl="0"/>
          <a:r>
            <a:rPr lang="fr-FR" dirty="0" err="1">
              <a:solidFill>
                <a:schemeClr val="bg1"/>
              </a:solidFill>
              <a:latin typeface="Walbaum Display"/>
            </a:rPr>
            <a:t>CountrySeries</a:t>
          </a:r>
          <a:r>
            <a:rPr lang="fr-FR" dirty="0">
              <a:solidFill>
                <a:schemeClr val="bg1"/>
              </a:solidFill>
              <a:latin typeface="Walbaum Display"/>
            </a:rPr>
            <a:t> : Source des indicateurs par pays</a:t>
          </a:r>
          <a:endParaRPr lang="fr-FR" dirty="0">
            <a:solidFill>
              <a:schemeClr val="bg1"/>
            </a:solidFill>
          </a:endParaRPr>
        </a:p>
      </dgm:t>
    </dgm:pt>
    <dgm:pt modelId="{DCB336D5-3FAF-4B00-B314-9D396F0599E5}" type="parTrans" cxnId="{FA8A8A73-CCFD-466D-A362-22D655C9EB15}">
      <dgm:prSet/>
      <dgm:spPr/>
      <dgm:t>
        <a:bodyPr/>
        <a:lstStyle/>
        <a:p>
          <a:endParaRPr lang="fr-FR"/>
        </a:p>
      </dgm:t>
    </dgm:pt>
    <dgm:pt modelId="{53196D9E-28BC-4A3F-8BFB-5E72E88409D9}" type="sibTrans" cxnId="{FA8A8A73-CCFD-466D-A362-22D655C9EB15}">
      <dgm:prSet/>
      <dgm:spPr/>
      <dgm:t>
        <a:bodyPr/>
        <a:lstStyle/>
        <a:p>
          <a:endParaRPr lang="fr-FR"/>
        </a:p>
      </dgm:t>
    </dgm:pt>
    <dgm:pt modelId="{8D94ECC4-2233-400D-AD39-3BDF3BEC5668}">
      <dgm:prSet phldrT="[Texte]" phldr="0"/>
      <dgm:spPr/>
      <dgm:t>
        <a:bodyPr/>
        <a:lstStyle/>
        <a:p>
          <a:pPr rtl="0"/>
          <a:r>
            <a:rPr lang="fr-FR" dirty="0" err="1">
              <a:solidFill>
                <a:schemeClr val="bg1"/>
              </a:solidFill>
              <a:latin typeface="Walbaum Display"/>
            </a:rPr>
            <a:t>FootNote</a:t>
          </a:r>
          <a:r>
            <a:rPr lang="fr-FR" dirty="0">
              <a:solidFill>
                <a:schemeClr val="bg1"/>
              </a:solidFill>
              <a:latin typeface="Walbaum Display"/>
            </a:rPr>
            <a:t> : informations sur la source des indicateurs</a:t>
          </a:r>
          <a:endParaRPr lang="fr-FR" dirty="0">
            <a:solidFill>
              <a:schemeClr val="bg1"/>
            </a:solidFill>
          </a:endParaRPr>
        </a:p>
      </dgm:t>
    </dgm:pt>
    <dgm:pt modelId="{560E7CAD-98AF-4B7F-B090-28EB39877C3F}" type="parTrans" cxnId="{46130D6E-84C5-48B3-A2C7-11F4D037B8CE}">
      <dgm:prSet/>
      <dgm:spPr/>
      <dgm:t>
        <a:bodyPr/>
        <a:lstStyle/>
        <a:p>
          <a:endParaRPr lang="fr-FR"/>
        </a:p>
      </dgm:t>
    </dgm:pt>
    <dgm:pt modelId="{427B8A38-97E1-4304-9573-B891E85CC9E9}" type="sibTrans" cxnId="{46130D6E-84C5-48B3-A2C7-11F4D037B8CE}">
      <dgm:prSet/>
      <dgm:spPr/>
      <dgm:t>
        <a:bodyPr/>
        <a:lstStyle/>
        <a:p>
          <a:endParaRPr lang="fr-FR"/>
        </a:p>
      </dgm:t>
    </dgm:pt>
    <dgm:pt modelId="{DDF1AF80-08C3-498F-B084-11E3230E6DFD}">
      <dgm:prSet phldr="0"/>
      <dgm:spPr/>
      <dgm:t>
        <a:bodyPr/>
        <a:lstStyle/>
        <a:p>
          <a:pPr rtl="0"/>
          <a:r>
            <a:rPr lang="fr-FR" dirty="0">
              <a:solidFill>
                <a:schemeClr val="bg1"/>
              </a:solidFill>
              <a:latin typeface="Walbaum Display"/>
            </a:rPr>
            <a:t>Country : Données sur les pays, leurs régions, leurs économies...</a:t>
          </a:r>
        </a:p>
      </dgm:t>
    </dgm:pt>
    <dgm:pt modelId="{237FA8AD-FFC0-4499-862F-C3E0B21A56C1}" type="parTrans" cxnId="{09A6783A-C120-43E1-875B-05E982F4FD1E}">
      <dgm:prSet/>
      <dgm:spPr/>
      <dgm:t>
        <a:bodyPr/>
        <a:lstStyle/>
        <a:p>
          <a:endParaRPr lang="fr-FR"/>
        </a:p>
      </dgm:t>
    </dgm:pt>
    <dgm:pt modelId="{C96D3766-FB88-49B3-B5AE-C88402F1918B}" type="sibTrans" cxnId="{09A6783A-C120-43E1-875B-05E982F4FD1E}">
      <dgm:prSet/>
      <dgm:spPr/>
      <dgm:t>
        <a:bodyPr/>
        <a:lstStyle/>
        <a:p>
          <a:endParaRPr lang="en-US"/>
        </a:p>
        <a:p>
          <a:endParaRPr lang="fr-FR"/>
        </a:p>
      </dgm:t>
    </dgm:pt>
    <dgm:pt modelId="{0621350D-EEF8-4111-B9DB-F2DB35D60253}">
      <dgm:prSet phldr="0"/>
      <dgm:spPr/>
      <dgm:t>
        <a:bodyPr/>
        <a:lstStyle/>
        <a:p>
          <a:pPr rtl="0"/>
          <a:endParaRPr lang="fr-FR" dirty="0">
            <a:latin typeface="Walbaum Display"/>
          </a:endParaRPr>
        </a:p>
      </dgm:t>
    </dgm:pt>
    <dgm:pt modelId="{0D9E74A0-C5B5-4DAD-9217-228D1C01E81D}" type="parTrans" cxnId="{48B804AA-248C-4FD7-A7D0-72E7912A02C2}">
      <dgm:prSet/>
      <dgm:spPr/>
      <dgm:t>
        <a:bodyPr/>
        <a:lstStyle/>
        <a:p>
          <a:endParaRPr lang="fr-FR"/>
        </a:p>
      </dgm:t>
    </dgm:pt>
    <dgm:pt modelId="{D5C8E227-9851-48DE-98E3-241FF2D9B642}" type="sibTrans" cxnId="{48B804AA-248C-4FD7-A7D0-72E7912A02C2}">
      <dgm:prSet/>
      <dgm:spPr/>
      <dgm:t>
        <a:bodyPr/>
        <a:lstStyle/>
        <a:p>
          <a:endParaRPr lang="fr-FR"/>
        </a:p>
      </dgm:t>
    </dgm:pt>
    <dgm:pt modelId="{C1524829-D611-4CD7-9B28-61071FC6ABD6}">
      <dgm:prSet phldr="0"/>
      <dgm:spPr/>
      <dgm:t>
        <a:bodyPr/>
        <a:lstStyle/>
        <a:p>
          <a:pPr rtl="0"/>
          <a:endParaRPr lang="fr-FR">
            <a:latin typeface="Walbaum Display"/>
          </a:endParaRPr>
        </a:p>
      </dgm:t>
    </dgm:pt>
    <dgm:pt modelId="{19CAC9D9-938C-4331-AC36-C34AF8863E46}" type="parTrans" cxnId="{DF63130A-34C8-40C2-A359-E609F8DA08D0}">
      <dgm:prSet/>
      <dgm:spPr/>
      <dgm:t>
        <a:bodyPr/>
        <a:lstStyle/>
        <a:p>
          <a:endParaRPr lang="fr-FR"/>
        </a:p>
      </dgm:t>
    </dgm:pt>
    <dgm:pt modelId="{6D9B3BCC-505C-4974-8C63-7CDE609307FC}" type="sibTrans" cxnId="{DF63130A-34C8-40C2-A359-E609F8DA08D0}">
      <dgm:prSet/>
      <dgm:spPr/>
      <dgm:t>
        <a:bodyPr/>
        <a:lstStyle/>
        <a:p>
          <a:endParaRPr lang="fr-FR"/>
        </a:p>
      </dgm:t>
    </dgm:pt>
    <dgm:pt modelId="{D9FF793F-16FE-47FF-96D5-65935D0925F8}">
      <dgm:prSet phldr="0"/>
      <dgm:spPr/>
      <dgm:t>
        <a:bodyPr/>
        <a:lstStyle/>
        <a:p>
          <a:pPr rtl="0"/>
          <a:endParaRPr lang="fr-FR">
            <a:latin typeface="Walbaum Display"/>
          </a:endParaRPr>
        </a:p>
      </dgm:t>
    </dgm:pt>
    <dgm:pt modelId="{D0A12CCF-264E-4254-8AA7-25751C9A7C53}" type="parTrans" cxnId="{AC2C0CC6-8BFB-4041-9CDF-8BCABD1D2BCF}">
      <dgm:prSet/>
      <dgm:spPr/>
      <dgm:t>
        <a:bodyPr/>
        <a:lstStyle/>
        <a:p>
          <a:endParaRPr lang="fr-FR"/>
        </a:p>
      </dgm:t>
    </dgm:pt>
    <dgm:pt modelId="{39610B04-4A79-459B-AC4C-077A2F88DA50}" type="sibTrans" cxnId="{AC2C0CC6-8BFB-4041-9CDF-8BCABD1D2BCF}">
      <dgm:prSet/>
      <dgm:spPr/>
      <dgm:t>
        <a:bodyPr/>
        <a:lstStyle/>
        <a:p>
          <a:endParaRPr lang="fr-FR"/>
        </a:p>
      </dgm:t>
    </dgm:pt>
    <dgm:pt modelId="{5D71CF96-9D5A-435F-B6BE-E0B6BD8D171F}">
      <dgm:prSet phldr="0"/>
      <dgm:spPr/>
      <dgm:t>
        <a:bodyPr/>
        <a:lstStyle/>
        <a:p>
          <a:pPr rtl="0"/>
          <a:endParaRPr lang="fr-FR">
            <a:latin typeface="Walbaum Display"/>
          </a:endParaRPr>
        </a:p>
      </dgm:t>
    </dgm:pt>
    <dgm:pt modelId="{C16F53CC-1701-44CC-86D8-4C21C8CA4EDA}" type="parTrans" cxnId="{1F8904C2-73A6-4975-9371-D217CA28A1D7}">
      <dgm:prSet/>
      <dgm:spPr/>
      <dgm:t>
        <a:bodyPr/>
        <a:lstStyle/>
        <a:p>
          <a:endParaRPr lang="fr-FR"/>
        </a:p>
      </dgm:t>
    </dgm:pt>
    <dgm:pt modelId="{3D6FDF13-58C1-4EFD-988C-FB236715F089}" type="sibTrans" cxnId="{1F8904C2-73A6-4975-9371-D217CA28A1D7}">
      <dgm:prSet/>
      <dgm:spPr/>
      <dgm:t>
        <a:bodyPr/>
        <a:lstStyle/>
        <a:p>
          <a:endParaRPr lang="fr-FR"/>
        </a:p>
      </dgm:t>
    </dgm:pt>
    <dgm:pt modelId="{B72EA114-FEB3-458D-BB3B-4C87EA0D97B0}">
      <dgm:prSet phldr="0"/>
      <dgm:spPr/>
      <dgm:t>
        <a:bodyPr/>
        <a:lstStyle/>
        <a:p>
          <a:pPr rtl="0"/>
          <a:endParaRPr lang="fr-FR">
            <a:latin typeface="Walbaum Display"/>
          </a:endParaRPr>
        </a:p>
      </dgm:t>
    </dgm:pt>
    <dgm:pt modelId="{9AD67BC2-56EC-44F5-B90F-8D448C18FBDD}" type="parTrans" cxnId="{1F908CBC-FE7E-4355-BB80-0B0909D1C99F}">
      <dgm:prSet/>
      <dgm:spPr/>
      <dgm:t>
        <a:bodyPr/>
        <a:lstStyle/>
        <a:p>
          <a:endParaRPr lang="fr-FR"/>
        </a:p>
      </dgm:t>
    </dgm:pt>
    <dgm:pt modelId="{6CA5F127-5A60-44F1-8844-BA04ED238358}" type="sibTrans" cxnId="{1F908CBC-FE7E-4355-BB80-0B0909D1C99F}">
      <dgm:prSet/>
      <dgm:spPr/>
      <dgm:t>
        <a:bodyPr/>
        <a:lstStyle/>
        <a:p>
          <a:endParaRPr lang="fr-FR"/>
        </a:p>
      </dgm:t>
    </dgm:pt>
    <dgm:pt modelId="{F014C24E-85BE-46A0-A67C-31E7C0E82D66}" type="pres">
      <dgm:prSet presAssocID="{D19E2FC1-8EA2-42A9-AC59-5DFFEBE74270}" presName="outerComposite" presStyleCnt="0">
        <dgm:presLayoutVars>
          <dgm:chMax val="5"/>
          <dgm:dir/>
          <dgm:resizeHandles val="exact"/>
        </dgm:presLayoutVars>
      </dgm:prSet>
      <dgm:spPr/>
    </dgm:pt>
    <dgm:pt modelId="{36EB8EEA-7C59-462D-9096-BB1D94D33702}" type="pres">
      <dgm:prSet presAssocID="{D19E2FC1-8EA2-42A9-AC59-5DFFEBE74270}" presName="dummyMaxCanvas" presStyleCnt="0">
        <dgm:presLayoutVars/>
      </dgm:prSet>
      <dgm:spPr/>
    </dgm:pt>
    <dgm:pt modelId="{10EA0015-67DA-4EF7-909E-E51798675DEA}" type="pres">
      <dgm:prSet presAssocID="{D19E2FC1-8EA2-42A9-AC59-5DFFEBE74270}" presName="FiveNodes_1" presStyleLbl="node1" presStyleIdx="0" presStyleCnt="5">
        <dgm:presLayoutVars>
          <dgm:bulletEnabled val="1"/>
        </dgm:presLayoutVars>
      </dgm:prSet>
      <dgm:spPr/>
    </dgm:pt>
    <dgm:pt modelId="{A474D5AF-87E9-4B0D-AF29-2CCEED251CF6}" type="pres">
      <dgm:prSet presAssocID="{D19E2FC1-8EA2-42A9-AC59-5DFFEBE74270}" presName="FiveNodes_2" presStyleLbl="node1" presStyleIdx="1" presStyleCnt="5">
        <dgm:presLayoutVars>
          <dgm:bulletEnabled val="1"/>
        </dgm:presLayoutVars>
      </dgm:prSet>
      <dgm:spPr/>
    </dgm:pt>
    <dgm:pt modelId="{8A059AD6-BC54-4406-B8B7-189A79DECA92}" type="pres">
      <dgm:prSet presAssocID="{D19E2FC1-8EA2-42A9-AC59-5DFFEBE74270}" presName="FiveNodes_3" presStyleLbl="node1" presStyleIdx="2" presStyleCnt="5">
        <dgm:presLayoutVars>
          <dgm:bulletEnabled val="1"/>
        </dgm:presLayoutVars>
      </dgm:prSet>
      <dgm:spPr/>
    </dgm:pt>
    <dgm:pt modelId="{6C8119A2-9C3D-4FCB-898F-001B850F4ECF}" type="pres">
      <dgm:prSet presAssocID="{D19E2FC1-8EA2-42A9-AC59-5DFFEBE74270}" presName="FiveNodes_4" presStyleLbl="node1" presStyleIdx="3" presStyleCnt="5">
        <dgm:presLayoutVars>
          <dgm:bulletEnabled val="1"/>
        </dgm:presLayoutVars>
      </dgm:prSet>
      <dgm:spPr/>
    </dgm:pt>
    <dgm:pt modelId="{452820BB-398A-471C-B346-F3B92C00F0AD}" type="pres">
      <dgm:prSet presAssocID="{D19E2FC1-8EA2-42A9-AC59-5DFFEBE74270}" presName="FiveNodes_5" presStyleLbl="node1" presStyleIdx="4" presStyleCnt="5">
        <dgm:presLayoutVars>
          <dgm:bulletEnabled val="1"/>
        </dgm:presLayoutVars>
      </dgm:prSet>
      <dgm:spPr/>
    </dgm:pt>
    <dgm:pt modelId="{644BCE31-CC49-4805-9C10-4E41519CC93A}" type="pres">
      <dgm:prSet presAssocID="{D19E2FC1-8EA2-42A9-AC59-5DFFEBE74270}" presName="FiveConn_1-2" presStyleLbl="fgAccFollowNode1" presStyleIdx="0" presStyleCnt="4">
        <dgm:presLayoutVars>
          <dgm:bulletEnabled val="1"/>
        </dgm:presLayoutVars>
      </dgm:prSet>
      <dgm:spPr/>
    </dgm:pt>
    <dgm:pt modelId="{5A8C64D7-6795-4C48-A2C9-2FF1AD69818F}" type="pres">
      <dgm:prSet presAssocID="{D19E2FC1-8EA2-42A9-AC59-5DFFEBE74270}" presName="FiveConn_2-3" presStyleLbl="fgAccFollowNode1" presStyleIdx="1" presStyleCnt="4">
        <dgm:presLayoutVars>
          <dgm:bulletEnabled val="1"/>
        </dgm:presLayoutVars>
      </dgm:prSet>
      <dgm:spPr/>
    </dgm:pt>
    <dgm:pt modelId="{74D4C3BA-DF70-4745-96ED-01CA08C773A7}" type="pres">
      <dgm:prSet presAssocID="{D19E2FC1-8EA2-42A9-AC59-5DFFEBE74270}" presName="FiveConn_3-4" presStyleLbl="fgAccFollowNode1" presStyleIdx="2" presStyleCnt="4">
        <dgm:presLayoutVars>
          <dgm:bulletEnabled val="1"/>
        </dgm:presLayoutVars>
      </dgm:prSet>
      <dgm:spPr/>
    </dgm:pt>
    <dgm:pt modelId="{36FD0C5A-DA79-442E-BEAA-19C33E0866E8}" type="pres">
      <dgm:prSet presAssocID="{D19E2FC1-8EA2-42A9-AC59-5DFFEBE74270}" presName="FiveConn_4-5" presStyleLbl="fgAccFollowNode1" presStyleIdx="3" presStyleCnt="4">
        <dgm:presLayoutVars>
          <dgm:bulletEnabled val="1"/>
        </dgm:presLayoutVars>
      </dgm:prSet>
      <dgm:spPr/>
    </dgm:pt>
    <dgm:pt modelId="{6342EABA-462F-4080-8382-A341EF164561}" type="pres">
      <dgm:prSet presAssocID="{D19E2FC1-8EA2-42A9-AC59-5DFFEBE74270}" presName="FiveNodes_1_text" presStyleLbl="node1" presStyleIdx="4" presStyleCnt="5">
        <dgm:presLayoutVars>
          <dgm:bulletEnabled val="1"/>
        </dgm:presLayoutVars>
      </dgm:prSet>
      <dgm:spPr/>
    </dgm:pt>
    <dgm:pt modelId="{35724B17-1ECD-434F-9B3C-0A477CE0AA7E}" type="pres">
      <dgm:prSet presAssocID="{D19E2FC1-8EA2-42A9-AC59-5DFFEBE74270}" presName="FiveNodes_2_text" presStyleLbl="node1" presStyleIdx="4" presStyleCnt="5">
        <dgm:presLayoutVars>
          <dgm:bulletEnabled val="1"/>
        </dgm:presLayoutVars>
      </dgm:prSet>
      <dgm:spPr/>
    </dgm:pt>
    <dgm:pt modelId="{D6A8880D-94B1-4B43-9FE4-9423D57D3EB1}" type="pres">
      <dgm:prSet presAssocID="{D19E2FC1-8EA2-42A9-AC59-5DFFEBE74270}" presName="FiveNodes_3_text" presStyleLbl="node1" presStyleIdx="4" presStyleCnt="5">
        <dgm:presLayoutVars>
          <dgm:bulletEnabled val="1"/>
        </dgm:presLayoutVars>
      </dgm:prSet>
      <dgm:spPr/>
    </dgm:pt>
    <dgm:pt modelId="{F11D3C8D-810F-4458-A7D3-CB3423BA9AEC}" type="pres">
      <dgm:prSet presAssocID="{D19E2FC1-8EA2-42A9-AC59-5DFFEBE74270}" presName="FiveNodes_4_text" presStyleLbl="node1" presStyleIdx="4" presStyleCnt="5">
        <dgm:presLayoutVars>
          <dgm:bulletEnabled val="1"/>
        </dgm:presLayoutVars>
      </dgm:prSet>
      <dgm:spPr/>
    </dgm:pt>
    <dgm:pt modelId="{1AF427EA-54B4-4B57-8EFE-E6FFE43C19BA}" type="pres">
      <dgm:prSet presAssocID="{D19E2FC1-8EA2-42A9-AC59-5DFFEBE7427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F63130A-34C8-40C2-A359-E609F8DA08D0}" srcId="{D19E2FC1-8EA2-42A9-AC59-5DFFEBE74270}" destId="{C1524829-D611-4CD7-9B28-61071FC6ABD6}" srcOrd="6" destOrd="0" parTransId="{19CAC9D9-938C-4331-AC36-C34AF8863E46}" sibTransId="{6D9B3BCC-505C-4974-8C63-7CDE609307FC}"/>
    <dgm:cxn modelId="{CB8E6222-64A2-49E7-954D-EBD14EEFF624}" type="presOf" srcId="{C96D3766-FB88-49B3-B5AE-C88402F1918B}" destId="{644BCE31-CC49-4805-9C10-4E41519CC93A}" srcOrd="0" destOrd="0" presId="urn:microsoft.com/office/officeart/2005/8/layout/vProcess5"/>
    <dgm:cxn modelId="{0D6D6C30-5299-4445-AF2D-496D082A487B}" srcId="{D19E2FC1-8EA2-42A9-AC59-5DFFEBE74270}" destId="{9EF39828-DEAD-470A-86D4-DA834954E265}" srcOrd="2" destOrd="0" parTransId="{56DFD39C-1341-4364-B1A1-BD79E77FCA0A}" sibTransId="{749037A2-A3A5-4887-8908-7745ED9A2251}"/>
    <dgm:cxn modelId="{09A6783A-C120-43E1-875B-05E982F4FD1E}" srcId="{D19E2FC1-8EA2-42A9-AC59-5DFFEBE74270}" destId="{DDF1AF80-08C3-498F-B084-11E3230E6DFD}" srcOrd="0" destOrd="0" parTransId="{237FA8AD-FFC0-4499-862F-C3E0B21A56C1}" sibTransId="{C96D3766-FB88-49B3-B5AE-C88402F1918B}"/>
    <dgm:cxn modelId="{651EA963-7D4C-412D-87CE-A82A2413B4AF}" type="presOf" srcId="{2F780093-E51D-4440-8507-35EB14BD5703}" destId="{35724B17-1ECD-434F-9B3C-0A477CE0AA7E}" srcOrd="1" destOrd="0" presId="urn:microsoft.com/office/officeart/2005/8/layout/vProcess5"/>
    <dgm:cxn modelId="{2EC57C68-2002-4B38-9883-FFFE4D56F53F}" type="presOf" srcId="{749037A2-A3A5-4887-8908-7745ED9A2251}" destId="{74D4C3BA-DF70-4745-96ED-01CA08C773A7}" srcOrd="0" destOrd="0" presId="urn:microsoft.com/office/officeart/2005/8/layout/vProcess5"/>
    <dgm:cxn modelId="{46130D6E-84C5-48B3-A2C7-11F4D037B8CE}" srcId="{D19E2FC1-8EA2-42A9-AC59-5DFFEBE74270}" destId="{8D94ECC4-2233-400D-AD39-3BDF3BEC5668}" srcOrd="4" destOrd="0" parTransId="{560E7CAD-98AF-4B7F-B090-28EB39877C3F}" sibTransId="{427B8A38-97E1-4304-9573-B891E85CC9E9}"/>
    <dgm:cxn modelId="{0713C36F-5CBC-48C7-860D-095B30D03407}" type="presOf" srcId="{6D524B5C-3C52-488E-83FC-B84DAA87DF48}" destId="{6C8119A2-9C3D-4FCB-898F-001B850F4ECF}" srcOrd="0" destOrd="0" presId="urn:microsoft.com/office/officeart/2005/8/layout/vProcess5"/>
    <dgm:cxn modelId="{F0841F50-BC31-4509-8453-B8231DE17DDA}" type="presOf" srcId="{6D524B5C-3C52-488E-83FC-B84DAA87DF48}" destId="{F11D3C8D-810F-4458-A7D3-CB3423BA9AEC}" srcOrd="1" destOrd="0" presId="urn:microsoft.com/office/officeart/2005/8/layout/vProcess5"/>
    <dgm:cxn modelId="{BA7B7F51-BF0E-4A55-8B2D-EA8FCFAE6F04}" type="presOf" srcId="{53196D9E-28BC-4A3F-8BFB-5E72E88409D9}" destId="{36FD0C5A-DA79-442E-BEAA-19C33E0866E8}" srcOrd="0" destOrd="0" presId="urn:microsoft.com/office/officeart/2005/8/layout/vProcess5"/>
    <dgm:cxn modelId="{FA8A8A73-CCFD-466D-A362-22D655C9EB15}" srcId="{D19E2FC1-8EA2-42A9-AC59-5DFFEBE74270}" destId="{6D524B5C-3C52-488E-83FC-B84DAA87DF48}" srcOrd="3" destOrd="0" parTransId="{DCB336D5-3FAF-4B00-B314-9D396F0599E5}" sibTransId="{53196D9E-28BC-4A3F-8BFB-5E72E88409D9}"/>
    <dgm:cxn modelId="{A826E07F-B480-4429-B342-2638CB9EB30B}" type="presOf" srcId="{DDF1AF80-08C3-498F-B084-11E3230E6DFD}" destId="{10EA0015-67DA-4EF7-909E-E51798675DEA}" srcOrd="0" destOrd="0" presId="urn:microsoft.com/office/officeart/2005/8/layout/vProcess5"/>
    <dgm:cxn modelId="{2F453D8E-17B1-4A07-9239-DA076C5B7A0C}" srcId="{D19E2FC1-8EA2-42A9-AC59-5DFFEBE74270}" destId="{2F780093-E51D-4440-8507-35EB14BD5703}" srcOrd="1" destOrd="0" parTransId="{A29AA1EE-B1A1-429E-A5AC-88B88030AA34}" sibTransId="{D5713CFA-9CF3-4130-ABFB-53940D9F28FD}"/>
    <dgm:cxn modelId="{16B51C90-B796-4270-8C11-AA89CA08890A}" type="presOf" srcId="{8D94ECC4-2233-400D-AD39-3BDF3BEC5668}" destId="{452820BB-398A-471C-B346-F3B92C00F0AD}" srcOrd="0" destOrd="0" presId="urn:microsoft.com/office/officeart/2005/8/layout/vProcess5"/>
    <dgm:cxn modelId="{56E231A4-FE2A-4AA2-A374-53B218337552}" type="presOf" srcId="{9EF39828-DEAD-470A-86D4-DA834954E265}" destId="{8A059AD6-BC54-4406-B8B7-189A79DECA92}" srcOrd="0" destOrd="0" presId="urn:microsoft.com/office/officeart/2005/8/layout/vProcess5"/>
    <dgm:cxn modelId="{48B804AA-248C-4FD7-A7D0-72E7912A02C2}" srcId="{D19E2FC1-8EA2-42A9-AC59-5DFFEBE74270}" destId="{0621350D-EEF8-4111-B9DB-F2DB35D60253}" srcOrd="5" destOrd="0" parTransId="{0D9E74A0-C5B5-4DAD-9217-228D1C01E81D}" sibTransId="{D5C8E227-9851-48DE-98E3-241FF2D9B642}"/>
    <dgm:cxn modelId="{6F46A2AF-E6EB-4237-B5C3-479603B9B087}" type="presOf" srcId="{D19E2FC1-8EA2-42A9-AC59-5DFFEBE74270}" destId="{F014C24E-85BE-46A0-A67C-31E7C0E82D66}" srcOrd="0" destOrd="0" presId="urn:microsoft.com/office/officeart/2005/8/layout/vProcess5"/>
    <dgm:cxn modelId="{1F908CBC-FE7E-4355-BB80-0B0909D1C99F}" srcId="{D19E2FC1-8EA2-42A9-AC59-5DFFEBE74270}" destId="{B72EA114-FEB3-458D-BB3B-4C87EA0D97B0}" srcOrd="9" destOrd="0" parTransId="{9AD67BC2-56EC-44F5-B90F-8D448C18FBDD}" sibTransId="{6CA5F127-5A60-44F1-8844-BA04ED238358}"/>
    <dgm:cxn modelId="{1F8904C2-73A6-4975-9371-D217CA28A1D7}" srcId="{D19E2FC1-8EA2-42A9-AC59-5DFFEBE74270}" destId="{5D71CF96-9D5A-435F-B6BE-E0B6BD8D171F}" srcOrd="8" destOrd="0" parTransId="{C16F53CC-1701-44CC-86D8-4C21C8CA4EDA}" sibTransId="{3D6FDF13-58C1-4EFD-988C-FB236715F089}"/>
    <dgm:cxn modelId="{AC2C0CC6-8BFB-4041-9CDF-8BCABD1D2BCF}" srcId="{D19E2FC1-8EA2-42A9-AC59-5DFFEBE74270}" destId="{D9FF793F-16FE-47FF-96D5-65935D0925F8}" srcOrd="7" destOrd="0" parTransId="{D0A12CCF-264E-4254-8AA7-25751C9A7C53}" sibTransId="{39610B04-4A79-459B-AC4C-077A2F88DA50}"/>
    <dgm:cxn modelId="{C10A16D6-F239-42E0-96BB-99204A241AFF}" type="presOf" srcId="{DDF1AF80-08C3-498F-B084-11E3230E6DFD}" destId="{6342EABA-462F-4080-8382-A341EF164561}" srcOrd="1" destOrd="0" presId="urn:microsoft.com/office/officeart/2005/8/layout/vProcess5"/>
    <dgm:cxn modelId="{03087DDB-28E0-44AE-A0EA-9B5A7E703D62}" type="presOf" srcId="{8D94ECC4-2233-400D-AD39-3BDF3BEC5668}" destId="{1AF427EA-54B4-4B57-8EFE-E6FFE43C19BA}" srcOrd="1" destOrd="0" presId="urn:microsoft.com/office/officeart/2005/8/layout/vProcess5"/>
    <dgm:cxn modelId="{851BBADF-2376-4F95-9056-3F416C3A27A0}" type="presOf" srcId="{9EF39828-DEAD-470A-86D4-DA834954E265}" destId="{D6A8880D-94B1-4B43-9FE4-9423D57D3EB1}" srcOrd="1" destOrd="0" presId="urn:microsoft.com/office/officeart/2005/8/layout/vProcess5"/>
    <dgm:cxn modelId="{6F8A80E3-7C96-4552-91AA-603277E74B76}" type="presOf" srcId="{2F780093-E51D-4440-8507-35EB14BD5703}" destId="{A474D5AF-87E9-4B0D-AF29-2CCEED251CF6}" srcOrd="0" destOrd="0" presId="urn:microsoft.com/office/officeart/2005/8/layout/vProcess5"/>
    <dgm:cxn modelId="{DCCEE4E6-0A72-4DAD-A212-00E37DA01DEB}" type="presOf" srcId="{D5713CFA-9CF3-4130-ABFB-53940D9F28FD}" destId="{5A8C64D7-6795-4C48-A2C9-2FF1AD69818F}" srcOrd="0" destOrd="0" presId="urn:microsoft.com/office/officeart/2005/8/layout/vProcess5"/>
    <dgm:cxn modelId="{9AE0BC26-477F-4D78-A5E6-7611B543396D}" type="presParOf" srcId="{F014C24E-85BE-46A0-A67C-31E7C0E82D66}" destId="{36EB8EEA-7C59-462D-9096-BB1D94D33702}" srcOrd="0" destOrd="0" presId="urn:microsoft.com/office/officeart/2005/8/layout/vProcess5"/>
    <dgm:cxn modelId="{EA6385EF-647B-461A-BE5F-CF04EF4A75F2}" type="presParOf" srcId="{F014C24E-85BE-46A0-A67C-31E7C0E82D66}" destId="{10EA0015-67DA-4EF7-909E-E51798675DEA}" srcOrd="1" destOrd="0" presId="urn:microsoft.com/office/officeart/2005/8/layout/vProcess5"/>
    <dgm:cxn modelId="{BFF21B7A-9900-4136-A360-892F2E8D9395}" type="presParOf" srcId="{F014C24E-85BE-46A0-A67C-31E7C0E82D66}" destId="{A474D5AF-87E9-4B0D-AF29-2CCEED251CF6}" srcOrd="2" destOrd="0" presId="urn:microsoft.com/office/officeart/2005/8/layout/vProcess5"/>
    <dgm:cxn modelId="{1FFD9E68-B29F-4437-B4BF-E8AA87F59771}" type="presParOf" srcId="{F014C24E-85BE-46A0-A67C-31E7C0E82D66}" destId="{8A059AD6-BC54-4406-B8B7-189A79DECA92}" srcOrd="3" destOrd="0" presId="urn:microsoft.com/office/officeart/2005/8/layout/vProcess5"/>
    <dgm:cxn modelId="{1150197C-E414-4C3D-B8BF-DE073407AB44}" type="presParOf" srcId="{F014C24E-85BE-46A0-A67C-31E7C0E82D66}" destId="{6C8119A2-9C3D-4FCB-898F-001B850F4ECF}" srcOrd="4" destOrd="0" presId="urn:microsoft.com/office/officeart/2005/8/layout/vProcess5"/>
    <dgm:cxn modelId="{BCA75576-204B-4450-B797-3C6ABFC884A6}" type="presParOf" srcId="{F014C24E-85BE-46A0-A67C-31E7C0E82D66}" destId="{452820BB-398A-471C-B346-F3B92C00F0AD}" srcOrd="5" destOrd="0" presId="urn:microsoft.com/office/officeart/2005/8/layout/vProcess5"/>
    <dgm:cxn modelId="{986D0EFE-1B8B-4DCF-B812-89B9B293D2DB}" type="presParOf" srcId="{F014C24E-85BE-46A0-A67C-31E7C0E82D66}" destId="{644BCE31-CC49-4805-9C10-4E41519CC93A}" srcOrd="6" destOrd="0" presId="urn:microsoft.com/office/officeart/2005/8/layout/vProcess5"/>
    <dgm:cxn modelId="{9E22F34C-BCF7-48CC-98EC-35AAF9B0D005}" type="presParOf" srcId="{F014C24E-85BE-46A0-A67C-31E7C0E82D66}" destId="{5A8C64D7-6795-4C48-A2C9-2FF1AD69818F}" srcOrd="7" destOrd="0" presId="urn:microsoft.com/office/officeart/2005/8/layout/vProcess5"/>
    <dgm:cxn modelId="{15BF1883-5854-49A9-B214-24005EEA4ECB}" type="presParOf" srcId="{F014C24E-85BE-46A0-A67C-31E7C0E82D66}" destId="{74D4C3BA-DF70-4745-96ED-01CA08C773A7}" srcOrd="8" destOrd="0" presId="urn:microsoft.com/office/officeart/2005/8/layout/vProcess5"/>
    <dgm:cxn modelId="{EEC5124E-B434-48AF-9737-8CACD01B0953}" type="presParOf" srcId="{F014C24E-85BE-46A0-A67C-31E7C0E82D66}" destId="{36FD0C5A-DA79-442E-BEAA-19C33E0866E8}" srcOrd="9" destOrd="0" presId="urn:microsoft.com/office/officeart/2005/8/layout/vProcess5"/>
    <dgm:cxn modelId="{71BEA2CB-B8EF-4C6D-9E5C-D8DB3C2B0EB4}" type="presParOf" srcId="{F014C24E-85BE-46A0-A67C-31E7C0E82D66}" destId="{6342EABA-462F-4080-8382-A341EF164561}" srcOrd="10" destOrd="0" presId="urn:microsoft.com/office/officeart/2005/8/layout/vProcess5"/>
    <dgm:cxn modelId="{BB960B1C-5FAE-499D-8AED-DFBD1A3EC5A4}" type="presParOf" srcId="{F014C24E-85BE-46A0-A67C-31E7C0E82D66}" destId="{35724B17-1ECD-434F-9B3C-0A477CE0AA7E}" srcOrd="11" destOrd="0" presId="urn:microsoft.com/office/officeart/2005/8/layout/vProcess5"/>
    <dgm:cxn modelId="{AE158749-6D76-43F4-B95A-7760C36725E6}" type="presParOf" srcId="{F014C24E-85BE-46A0-A67C-31E7C0E82D66}" destId="{D6A8880D-94B1-4B43-9FE4-9423D57D3EB1}" srcOrd="12" destOrd="0" presId="urn:microsoft.com/office/officeart/2005/8/layout/vProcess5"/>
    <dgm:cxn modelId="{7F11D923-4B6C-495D-816E-7075BCEBB926}" type="presParOf" srcId="{F014C24E-85BE-46A0-A67C-31E7C0E82D66}" destId="{F11D3C8D-810F-4458-A7D3-CB3423BA9AEC}" srcOrd="13" destOrd="0" presId="urn:microsoft.com/office/officeart/2005/8/layout/vProcess5"/>
    <dgm:cxn modelId="{804B5BF1-184F-487F-A3DE-B1C9C93ACD2C}" type="presParOf" srcId="{F014C24E-85BE-46A0-A67C-31E7C0E82D66}" destId="{1AF427EA-54B4-4B57-8EFE-E6FFE43C19B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7AA21-6FDD-43DA-9214-B847762D42BC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A5B94-8FBF-4737-A636-BC180DB38D5D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chemeClr val="tx2"/>
              </a:solidFill>
            </a:rPr>
            <a:t>Le jeu de données et les liens entre les différentes tables.</a:t>
          </a:r>
          <a:endParaRPr lang="en-US" sz="2800" kern="1200" dirty="0">
            <a:solidFill>
              <a:schemeClr val="tx2"/>
            </a:solidFill>
          </a:endParaRPr>
        </a:p>
      </dsp:txBody>
      <dsp:txXfrm>
        <a:off x="0" y="2703"/>
        <a:ext cx="6900512" cy="1843578"/>
      </dsp:txXfrm>
    </dsp:sp>
    <dsp:sp modelId="{C4982ECC-D34A-4F9F-8048-57FBF8228C0B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ED1AB-E858-4FBE-80A7-645E50A47320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chemeClr val="tx2"/>
              </a:solidFill>
            </a:rPr>
            <a:t>Compréhension des variables.</a:t>
          </a:r>
          <a:endParaRPr lang="en-US" sz="2800" kern="1200" dirty="0">
            <a:solidFill>
              <a:schemeClr val="tx2"/>
            </a:solidFill>
          </a:endParaRPr>
        </a:p>
      </dsp:txBody>
      <dsp:txXfrm>
        <a:off x="0" y="1846281"/>
        <a:ext cx="6900512" cy="1843578"/>
      </dsp:txXfrm>
    </dsp:sp>
    <dsp:sp modelId="{7E518DAC-29A8-4F0E-A37A-E8369E41C9A7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62BB9-28D2-4B3B-8913-D99F109EA5F6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chemeClr val="tx2"/>
              </a:solidFill>
            </a:rPr>
            <a:t>Qualité du jeu de données</a:t>
          </a:r>
          <a:r>
            <a:rPr lang="fr-FR" sz="2800" kern="1200" dirty="0"/>
            <a:t>.</a:t>
          </a:r>
          <a:endParaRPr lang="en-US" sz="2800" kern="1200" dirty="0"/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A0015-67DA-4EF7-909E-E51798675DEA}">
      <dsp:nvSpPr>
        <dsp:cNvPr id="0" name=""/>
        <dsp:cNvSpPr/>
      </dsp:nvSpPr>
      <dsp:spPr>
        <a:xfrm>
          <a:off x="0" y="0"/>
          <a:ext cx="7627620" cy="64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solidFill>
                <a:schemeClr val="bg1"/>
              </a:solidFill>
              <a:latin typeface="Walbaum Display"/>
            </a:rPr>
            <a:t>Country : Données sur les pays, leurs régions, leurs économies...</a:t>
          </a:r>
        </a:p>
      </dsp:txBody>
      <dsp:txXfrm>
        <a:off x="18857" y="18857"/>
        <a:ext cx="6857539" cy="606124"/>
      </dsp:txXfrm>
    </dsp:sp>
    <dsp:sp modelId="{A474D5AF-87E9-4B0D-AF29-2CCEED251CF6}">
      <dsp:nvSpPr>
        <dsp:cNvPr id="0" name=""/>
        <dsp:cNvSpPr/>
      </dsp:nvSpPr>
      <dsp:spPr>
        <a:xfrm>
          <a:off x="569595" y="733260"/>
          <a:ext cx="7627620" cy="64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solidFill>
                <a:schemeClr val="bg1"/>
              </a:solidFill>
              <a:latin typeface="Walbaum Display"/>
            </a:rPr>
            <a:t>Data : évolution des indicateurs avec projection dans le temps</a:t>
          </a:r>
          <a:endParaRPr lang="fr-FR" sz="1900" kern="1200" dirty="0">
            <a:solidFill>
              <a:schemeClr val="bg1"/>
            </a:solidFill>
          </a:endParaRPr>
        </a:p>
      </dsp:txBody>
      <dsp:txXfrm>
        <a:off x="588452" y="752117"/>
        <a:ext cx="6601815" cy="606124"/>
      </dsp:txXfrm>
    </dsp:sp>
    <dsp:sp modelId="{8A059AD6-BC54-4406-B8B7-189A79DECA92}">
      <dsp:nvSpPr>
        <dsp:cNvPr id="0" name=""/>
        <dsp:cNvSpPr/>
      </dsp:nvSpPr>
      <dsp:spPr>
        <a:xfrm>
          <a:off x="1139189" y="1466521"/>
          <a:ext cx="7627620" cy="64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solidFill>
                <a:schemeClr val="bg1"/>
              </a:solidFill>
              <a:latin typeface="Walbaum Display"/>
            </a:rPr>
            <a:t>Séries : définition des indicateurs</a:t>
          </a:r>
          <a:endParaRPr lang="fr-FR" sz="1900" kern="1200" dirty="0">
            <a:solidFill>
              <a:schemeClr val="bg1"/>
            </a:solidFill>
          </a:endParaRPr>
        </a:p>
      </dsp:txBody>
      <dsp:txXfrm>
        <a:off x="1158046" y="1485378"/>
        <a:ext cx="6601815" cy="606124"/>
      </dsp:txXfrm>
    </dsp:sp>
    <dsp:sp modelId="{6C8119A2-9C3D-4FCB-898F-001B850F4ECF}">
      <dsp:nvSpPr>
        <dsp:cNvPr id="0" name=""/>
        <dsp:cNvSpPr/>
      </dsp:nvSpPr>
      <dsp:spPr>
        <a:xfrm>
          <a:off x="1708784" y="2199781"/>
          <a:ext cx="7627620" cy="64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 err="1">
              <a:solidFill>
                <a:schemeClr val="bg1"/>
              </a:solidFill>
              <a:latin typeface="Walbaum Display"/>
            </a:rPr>
            <a:t>CountrySeries</a:t>
          </a:r>
          <a:r>
            <a:rPr lang="fr-FR" sz="1900" kern="1200" dirty="0">
              <a:solidFill>
                <a:schemeClr val="bg1"/>
              </a:solidFill>
              <a:latin typeface="Walbaum Display"/>
            </a:rPr>
            <a:t> : Source des indicateurs par pays</a:t>
          </a:r>
          <a:endParaRPr lang="fr-FR" sz="1900" kern="1200" dirty="0">
            <a:solidFill>
              <a:schemeClr val="bg1"/>
            </a:solidFill>
          </a:endParaRPr>
        </a:p>
      </dsp:txBody>
      <dsp:txXfrm>
        <a:off x="1727641" y="2218638"/>
        <a:ext cx="6601815" cy="606124"/>
      </dsp:txXfrm>
    </dsp:sp>
    <dsp:sp modelId="{452820BB-398A-471C-B346-F3B92C00F0AD}">
      <dsp:nvSpPr>
        <dsp:cNvPr id="0" name=""/>
        <dsp:cNvSpPr/>
      </dsp:nvSpPr>
      <dsp:spPr>
        <a:xfrm>
          <a:off x="2278379" y="2933042"/>
          <a:ext cx="7627620" cy="64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 err="1">
              <a:solidFill>
                <a:schemeClr val="bg1"/>
              </a:solidFill>
              <a:latin typeface="Walbaum Display"/>
            </a:rPr>
            <a:t>FootNote</a:t>
          </a:r>
          <a:r>
            <a:rPr lang="fr-FR" sz="1900" kern="1200" dirty="0">
              <a:solidFill>
                <a:schemeClr val="bg1"/>
              </a:solidFill>
              <a:latin typeface="Walbaum Display"/>
            </a:rPr>
            <a:t> : informations sur la source des indicateurs</a:t>
          </a:r>
          <a:endParaRPr lang="fr-FR" sz="1900" kern="1200" dirty="0">
            <a:solidFill>
              <a:schemeClr val="bg1"/>
            </a:solidFill>
          </a:endParaRPr>
        </a:p>
      </dsp:txBody>
      <dsp:txXfrm>
        <a:off x="2297236" y="2951899"/>
        <a:ext cx="6601815" cy="606124"/>
      </dsp:txXfrm>
    </dsp:sp>
    <dsp:sp modelId="{644BCE31-CC49-4805-9C10-4E41519CC93A}">
      <dsp:nvSpPr>
        <dsp:cNvPr id="0" name=""/>
        <dsp:cNvSpPr/>
      </dsp:nvSpPr>
      <dsp:spPr>
        <a:xfrm>
          <a:off x="7209124" y="470359"/>
          <a:ext cx="418495" cy="4184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kern="1200"/>
        </a:p>
      </dsp:txBody>
      <dsp:txXfrm>
        <a:off x="7303285" y="470359"/>
        <a:ext cx="230173" cy="314917"/>
      </dsp:txXfrm>
    </dsp:sp>
    <dsp:sp modelId="{5A8C64D7-6795-4C48-A2C9-2FF1AD69818F}">
      <dsp:nvSpPr>
        <dsp:cNvPr id="0" name=""/>
        <dsp:cNvSpPr/>
      </dsp:nvSpPr>
      <dsp:spPr>
        <a:xfrm>
          <a:off x="7778719" y="1203620"/>
          <a:ext cx="418495" cy="4184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7872880" y="1203620"/>
        <a:ext cx="230173" cy="314917"/>
      </dsp:txXfrm>
    </dsp:sp>
    <dsp:sp modelId="{74D4C3BA-DF70-4745-96ED-01CA08C773A7}">
      <dsp:nvSpPr>
        <dsp:cNvPr id="0" name=""/>
        <dsp:cNvSpPr/>
      </dsp:nvSpPr>
      <dsp:spPr>
        <a:xfrm>
          <a:off x="8348314" y="1926150"/>
          <a:ext cx="418495" cy="4184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8442475" y="1926150"/>
        <a:ext cx="230173" cy="314917"/>
      </dsp:txXfrm>
    </dsp:sp>
    <dsp:sp modelId="{36FD0C5A-DA79-442E-BEAA-19C33E0866E8}">
      <dsp:nvSpPr>
        <dsp:cNvPr id="0" name=""/>
        <dsp:cNvSpPr/>
      </dsp:nvSpPr>
      <dsp:spPr>
        <a:xfrm>
          <a:off x="8917909" y="2666564"/>
          <a:ext cx="418495" cy="4184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9012070" y="2666564"/>
        <a:ext cx="230173" cy="314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63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82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7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10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90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04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1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9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66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69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4" descr="Loupe montrant des performances en baisse">
            <a:extLst>
              <a:ext uri="{FF2B5EF4-FFF2-40B4-BE49-F238E27FC236}">
                <a16:creationId xmlns:a16="http://schemas.microsoft.com/office/drawing/2014/main" id="{8E881724-A15F-29DC-7188-79972C90E6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337" b="-1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fr-FR" sz="4800" cap="all" dirty="0"/>
              <a:t>ANALYSE DE DONNÉES </a:t>
            </a:r>
            <a:br>
              <a:rPr lang="fr-FR" sz="4800" cap="all" dirty="0"/>
            </a:br>
            <a:r>
              <a:rPr lang="fr-FR" sz="4800" cap="all" dirty="0"/>
              <a:t>de systèmes éducatifs</a:t>
            </a:r>
            <a:endParaRPr lang="fr-FR" sz="4800" cap="all" dirty="0">
              <a:cs typeface="Calibri Light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1629" y="5318898"/>
            <a:ext cx="2425993" cy="431045"/>
          </a:xfrm>
        </p:spPr>
        <p:txBody>
          <a:bodyPr>
            <a:normAutofit/>
          </a:bodyPr>
          <a:lstStyle/>
          <a:p>
            <a:pPr algn="l"/>
            <a:r>
              <a:rPr lang="fr-FR" sz="2000" dirty="0" err="1"/>
              <a:t>Saoussan</a:t>
            </a:r>
            <a:r>
              <a:rPr lang="fr-FR" sz="2000" dirty="0"/>
              <a:t> EL HAOUZI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object 14">
            <a:extLst>
              <a:ext uri="{FF2B5EF4-FFF2-40B4-BE49-F238E27FC236}">
                <a16:creationId xmlns:a16="http://schemas.microsoft.com/office/drawing/2014/main" id="{B9B85D76-9729-4833-8C23-BCE05702F0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27" name="object 7">
            <a:extLst>
              <a:ext uri="{FF2B5EF4-FFF2-40B4-BE49-F238E27FC236}">
                <a16:creationId xmlns:a16="http://schemas.microsoft.com/office/drawing/2014/main" id="{3585260D-A7EA-41EB-B322-AE0C3CC62E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2761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335EDE-D1A8-3551-6014-2F3A0432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fr-FR"/>
              <a:t>Problématique : </a:t>
            </a:r>
          </a:p>
        </p:txBody>
      </p:sp>
      <p:pic>
        <p:nvPicPr>
          <p:cNvPr id="5" name="Picture 4" descr="Ampoule sur arrière-plan jaune avec faisceaux de lumière et câble">
            <a:extLst>
              <a:ext uri="{FF2B5EF4-FFF2-40B4-BE49-F238E27FC236}">
                <a16:creationId xmlns:a16="http://schemas.microsoft.com/office/drawing/2014/main" id="{84B98757-A0E1-0CD5-A153-4C48FE68E1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08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7B0E0C-36E4-D89D-B2C1-2FFA47E14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340995" indent="-328295">
              <a:spcBef>
                <a:spcPts val="340"/>
              </a:spcBef>
              <a:buFont typeface="Arial MT"/>
              <a:buChar char="●"/>
              <a:tabLst>
                <a:tab pos="340360" algn="l"/>
                <a:tab pos="340995" algn="l"/>
              </a:tabLst>
            </a:pPr>
            <a:r>
              <a:rPr lang="fr-FR" sz="1700" spc="5" dirty="0" err="1">
                <a:latin typeface="Microsoft Sans Serif"/>
                <a:cs typeface="Microsoft Sans Serif"/>
              </a:rPr>
              <a:t>Academy</a:t>
            </a:r>
            <a:r>
              <a:rPr lang="fr-FR" sz="1700" spc="-10" dirty="0">
                <a:latin typeface="Microsoft Sans Serif"/>
                <a:cs typeface="Microsoft Sans Serif"/>
              </a:rPr>
              <a:t> </a:t>
            </a:r>
            <a:r>
              <a:rPr lang="fr-FR" sz="1700" dirty="0">
                <a:latin typeface="Microsoft Sans Serif"/>
                <a:cs typeface="Microsoft Sans Serif"/>
              </a:rPr>
              <a:t>est</a:t>
            </a:r>
            <a:r>
              <a:rPr lang="fr-FR" sz="1700" spc="-10" dirty="0">
                <a:latin typeface="Microsoft Sans Serif"/>
                <a:cs typeface="Microsoft Sans Serif"/>
              </a:rPr>
              <a:t> une</a:t>
            </a:r>
            <a:r>
              <a:rPr lang="fr-FR" sz="1700" spc="-15" dirty="0">
                <a:latin typeface="Microsoft Sans Serif"/>
                <a:cs typeface="Microsoft Sans Serif"/>
              </a:rPr>
              <a:t> </a:t>
            </a:r>
            <a:r>
              <a:rPr lang="fr-FR" sz="1700" b="1" spc="5" dirty="0">
                <a:latin typeface="Arial"/>
                <a:cs typeface="Arial"/>
              </a:rPr>
              <a:t>start-up</a:t>
            </a:r>
            <a:r>
              <a:rPr lang="fr-FR" sz="1700" b="1" spc="-5" dirty="0">
                <a:latin typeface="Arial"/>
                <a:cs typeface="Arial"/>
              </a:rPr>
              <a:t> </a:t>
            </a:r>
            <a:r>
              <a:rPr lang="fr-FR" sz="1700" b="1" spc="-25" dirty="0">
                <a:latin typeface="Arial"/>
                <a:cs typeface="Arial"/>
              </a:rPr>
              <a:t>de</a:t>
            </a:r>
            <a:r>
              <a:rPr lang="fr-FR" sz="1700" b="1" spc="-10" dirty="0">
                <a:latin typeface="Arial"/>
                <a:cs typeface="Arial"/>
              </a:rPr>
              <a:t> </a:t>
            </a:r>
            <a:r>
              <a:rPr lang="fr-FR" sz="1700" b="1" spc="-30" dirty="0">
                <a:latin typeface="Arial"/>
                <a:cs typeface="Arial"/>
              </a:rPr>
              <a:t>la</a:t>
            </a:r>
            <a:r>
              <a:rPr lang="fr-FR" sz="1700" b="1" spc="-10" dirty="0">
                <a:latin typeface="Arial"/>
                <a:cs typeface="Arial"/>
              </a:rPr>
              <a:t> </a:t>
            </a:r>
            <a:r>
              <a:rPr lang="fr-FR" sz="1700" b="1" spc="-65" dirty="0" err="1">
                <a:latin typeface="Arial"/>
                <a:cs typeface="Arial"/>
              </a:rPr>
              <a:t>EdTech</a:t>
            </a:r>
            <a:endParaRPr lang="fr-FR" sz="1700" dirty="0">
              <a:latin typeface="Arial"/>
              <a:cs typeface="Arial"/>
            </a:endParaRPr>
          </a:p>
          <a:p>
            <a:pPr marL="340360" marR="5080" indent="-328295">
              <a:buFont typeface="Arial MT"/>
              <a:buChar char="●"/>
              <a:tabLst>
                <a:tab pos="340360" algn="l"/>
                <a:tab pos="340995" algn="l"/>
              </a:tabLst>
            </a:pPr>
            <a:r>
              <a:rPr lang="fr-FR" sz="1700" spc="-15" dirty="0">
                <a:latin typeface="Microsoft Sans Serif"/>
                <a:cs typeface="Microsoft Sans Serif"/>
              </a:rPr>
              <a:t>E-learning</a:t>
            </a:r>
            <a:r>
              <a:rPr lang="fr-FR" sz="1700" spc="-5" dirty="0">
                <a:latin typeface="Microsoft Sans Serif"/>
                <a:cs typeface="Microsoft Sans Serif"/>
              </a:rPr>
              <a:t> </a:t>
            </a:r>
            <a:r>
              <a:rPr lang="fr-FR" sz="1700" spc="-65" dirty="0">
                <a:latin typeface="Microsoft Sans Serif"/>
                <a:cs typeface="Microsoft Sans Serif"/>
              </a:rPr>
              <a:t>:</a:t>
            </a:r>
            <a:r>
              <a:rPr lang="fr-FR" sz="1700" spc="-5" dirty="0">
                <a:latin typeface="Microsoft Sans Serif"/>
                <a:cs typeface="Microsoft Sans Serif"/>
              </a:rPr>
              <a:t> Contenus</a:t>
            </a:r>
            <a:r>
              <a:rPr lang="fr-FR" sz="1700" dirty="0">
                <a:latin typeface="Microsoft Sans Serif"/>
                <a:cs typeface="Microsoft Sans Serif"/>
              </a:rPr>
              <a:t> </a:t>
            </a:r>
            <a:r>
              <a:rPr lang="fr-FR" sz="1700" spc="-5" dirty="0">
                <a:latin typeface="Microsoft Sans Serif"/>
                <a:cs typeface="Microsoft Sans Serif"/>
              </a:rPr>
              <a:t>de </a:t>
            </a:r>
            <a:r>
              <a:rPr lang="fr-FR" sz="1700" spc="15" dirty="0">
                <a:latin typeface="Microsoft Sans Serif"/>
                <a:cs typeface="Microsoft Sans Serif"/>
              </a:rPr>
              <a:t>formation</a:t>
            </a:r>
            <a:r>
              <a:rPr lang="fr-FR" sz="1700" dirty="0">
                <a:latin typeface="Microsoft Sans Serif"/>
                <a:cs typeface="Microsoft Sans Serif"/>
              </a:rPr>
              <a:t> </a:t>
            </a:r>
            <a:r>
              <a:rPr lang="fr-FR" sz="1700" spc="-5" dirty="0">
                <a:latin typeface="Microsoft Sans Serif"/>
                <a:cs typeface="Microsoft Sans Serif"/>
              </a:rPr>
              <a:t>de</a:t>
            </a:r>
            <a:r>
              <a:rPr lang="fr-FR" sz="1700" spc="-15" dirty="0">
                <a:latin typeface="Microsoft Sans Serif"/>
                <a:cs typeface="Microsoft Sans Serif"/>
              </a:rPr>
              <a:t> </a:t>
            </a:r>
            <a:r>
              <a:rPr lang="fr-FR" sz="1700" b="1" spc="-40" dirty="0">
                <a:latin typeface="Arial"/>
                <a:cs typeface="Arial"/>
              </a:rPr>
              <a:t>niveau</a:t>
            </a:r>
            <a:r>
              <a:rPr lang="fr-FR" sz="1700" b="1" dirty="0">
                <a:latin typeface="Arial"/>
                <a:cs typeface="Arial"/>
              </a:rPr>
              <a:t> </a:t>
            </a:r>
            <a:r>
              <a:rPr lang="fr-FR" sz="1700" b="1" spc="-50" dirty="0">
                <a:latin typeface="Arial"/>
                <a:cs typeface="Arial"/>
              </a:rPr>
              <a:t>lycée </a:t>
            </a:r>
            <a:r>
              <a:rPr lang="fr-FR" sz="1700" b="1" spc="-350" dirty="0">
                <a:latin typeface="Arial"/>
                <a:cs typeface="Arial"/>
              </a:rPr>
              <a:t> </a:t>
            </a:r>
            <a:r>
              <a:rPr lang="fr-FR" sz="1700" b="1" dirty="0">
                <a:latin typeface="Arial"/>
                <a:cs typeface="Arial"/>
              </a:rPr>
              <a:t>et</a:t>
            </a:r>
            <a:r>
              <a:rPr lang="fr-FR" sz="1700" b="1" spc="-15" dirty="0">
                <a:latin typeface="Arial"/>
                <a:cs typeface="Arial"/>
              </a:rPr>
              <a:t> </a:t>
            </a:r>
            <a:r>
              <a:rPr lang="fr-FR" sz="1700" b="1" spc="-30" dirty="0">
                <a:latin typeface="Arial"/>
                <a:cs typeface="Arial"/>
              </a:rPr>
              <a:t>université</a:t>
            </a:r>
            <a:endParaRPr lang="fr-FR" sz="1700" dirty="0">
              <a:latin typeface="Arial"/>
              <a:cs typeface="Arial"/>
            </a:endParaRPr>
          </a:p>
          <a:p>
            <a:pPr marL="340995" indent="-328295"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lang="fr-FR" sz="1700" spc="10" dirty="0">
                <a:latin typeface="Microsoft Sans Serif"/>
                <a:cs typeface="Microsoft Sans Serif"/>
              </a:rPr>
              <a:t>Objectif</a:t>
            </a:r>
            <a:r>
              <a:rPr lang="fr-FR" sz="1700" spc="-25" dirty="0">
                <a:latin typeface="Microsoft Sans Serif"/>
                <a:cs typeface="Microsoft Sans Serif"/>
              </a:rPr>
              <a:t> </a:t>
            </a:r>
            <a:r>
              <a:rPr lang="fr-FR" sz="1700" spc="-30" dirty="0">
                <a:latin typeface="Microsoft Sans Serif"/>
                <a:cs typeface="Microsoft Sans Serif"/>
              </a:rPr>
              <a:t>d’</a:t>
            </a:r>
            <a:r>
              <a:rPr lang="fr-FR" sz="1700" b="1" spc="-30" dirty="0">
                <a:latin typeface="Arial"/>
                <a:cs typeface="Arial"/>
              </a:rPr>
              <a:t>expansion</a:t>
            </a:r>
            <a:r>
              <a:rPr lang="fr-FR" sz="1700" b="1" spc="-20" dirty="0">
                <a:latin typeface="Arial"/>
                <a:cs typeface="Arial"/>
              </a:rPr>
              <a:t> </a:t>
            </a:r>
            <a:r>
              <a:rPr lang="fr-FR" sz="1700" b="1" spc="-25" dirty="0">
                <a:latin typeface="Arial"/>
                <a:cs typeface="Arial"/>
              </a:rPr>
              <a:t>à </a:t>
            </a:r>
            <a:r>
              <a:rPr lang="fr-FR" sz="1700" b="1" spc="-20" dirty="0">
                <a:latin typeface="Arial"/>
                <a:cs typeface="Arial"/>
              </a:rPr>
              <a:t>l’international</a:t>
            </a:r>
            <a:endParaRPr lang="fr-FR" sz="1700" dirty="0">
              <a:latin typeface="Arial"/>
              <a:cs typeface="Arial"/>
            </a:endParaRPr>
          </a:p>
          <a:p>
            <a:pPr marL="12700">
              <a:spcBef>
                <a:spcPts val="100"/>
              </a:spcBef>
            </a:pPr>
            <a:endParaRPr lang="fr-FR" sz="1700" b="1" spc="-15" dirty="0">
              <a:latin typeface="Arial"/>
              <a:cs typeface="Arial"/>
            </a:endParaRPr>
          </a:p>
          <a:p>
            <a:pPr marL="12700">
              <a:spcBef>
                <a:spcPts val="100"/>
              </a:spcBef>
            </a:pPr>
            <a:endParaRPr lang="fr-FR" sz="1700" b="1" spc="-15" dirty="0">
              <a:latin typeface="Arial"/>
              <a:cs typeface="Arial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fr-FR" sz="1700" b="1" spc="-15" dirty="0">
                <a:latin typeface="Arial"/>
                <a:cs typeface="Arial"/>
              </a:rPr>
              <a:t>Objectif</a:t>
            </a:r>
            <a:r>
              <a:rPr lang="fr-FR" sz="1700" b="1" spc="-30" dirty="0">
                <a:latin typeface="Arial"/>
                <a:cs typeface="Arial"/>
              </a:rPr>
              <a:t> du </a:t>
            </a:r>
            <a:r>
              <a:rPr lang="fr-FR" sz="1700" b="1" spc="-20" dirty="0">
                <a:latin typeface="Arial"/>
                <a:cs typeface="Arial"/>
              </a:rPr>
              <a:t>projet</a:t>
            </a:r>
            <a:r>
              <a:rPr lang="fr-FR" sz="1700" b="1" spc="-25" dirty="0">
                <a:latin typeface="Arial"/>
                <a:cs typeface="Arial"/>
              </a:rPr>
              <a:t> </a:t>
            </a:r>
            <a:r>
              <a:rPr lang="fr-FR" sz="1700" b="1" spc="-114" dirty="0">
                <a:latin typeface="Arial"/>
                <a:cs typeface="Arial"/>
              </a:rPr>
              <a:t>:</a:t>
            </a:r>
            <a:endParaRPr lang="fr-FR" sz="1700" dirty="0">
              <a:latin typeface="Arial"/>
              <a:cs typeface="Arial"/>
            </a:endParaRPr>
          </a:p>
          <a:p>
            <a:pPr marL="12700" marR="5080"/>
            <a:r>
              <a:rPr lang="fr-FR" sz="1700" i="1" spc="5" dirty="0">
                <a:latin typeface="Arial"/>
                <a:cs typeface="Arial"/>
              </a:rPr>
              <a:t>Informer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15" dirty="0">
                <a:latin typeface="Arial"/>
                <a:cs typeface="Arial"/>
              </a:rPr>
              <a:t>le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15" dirty="0">
                <a:latin typeface="Arial"/>
                <a:cs typeface="Arial"/>
              </a:rPr>
              <a:t>projet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5" dirty="0">
                <a:latin typeface="Arial"/>
                <a:cs typeface="Arial"/>
              </a:rPr>
              <a:t>d’expansion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15" dirty="0">
                <a:latin typeface="Arial"/>
                <a:cs typeface="Arial"/>
              </a:rPr>
              <a:t>en</a:t>
            </a:r>
            <a:r>
              <a:rPr lang="fr-FR" sz="1700" i="1" spc="-25" dirty="0">
                <a:latin typeface="Arial"/>
                <a:cs typeface="Arial"/>
              </a:rPr>
              <a:t> </a:t>
            </a:r>
            <a:r>
              <a:rPr lang="fr-FR" sz="1700" i="1" dirty="0">
                <a:latin typeface="Arial"/>
                <a:cs typeface="Arial"/>
              </a:rPr>
              <a:t>réalisant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10" dirty="0">
                <a:latin typeface="Arial"/>
                <a:cs typeface="Arial"/>
              </a:rPr>
              <a:t>une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15" dirty="0">
                <a:latin typeface="Arial"/>
                <a:cs typeface="Arial"/>
              </a:rPr>
              <a:t>analyse </a:t>
            </a:r>
            <a:r>
              <a:rPr lang="fr-FR" sz="1700" i="1" spc="-345" dirty="0">
                <a:latin typeface="Arial"/>
                <a:cs typeface="Arial"/>
              </a:rPr>
              <a:t> </a:t>
            </a:r>
            <a:r>
              <a:rPr lang="fr-FR" sz="1700" i="1" dirty="0">
                <a:latin typeface="Arial"/>
                <a:cs typeface="Arial"/>
              </a:rPr>
              <a:t>pré </a:t>
            </a:r>
            <a:r>
              <a:rPr lang="fr-FR" sz="1700" i="1" spc="5" dirty="0">
                <a:latin typeface="Arial"/>
                <a:cs typeface="Arial"/>
              </a:rPr>
              <a:t>exploratoire </a:t>
            </a:r>
            <a:r>
              <a:rPr lang="fr-FR" sz="1700" i="1" spc="15" dirty="0">
                <a:latin typeface="Arial"/>
                <a:cs typeface="Arial"/>
              </a:rPr>
              <a:t>et </a:t>
            </a:r>
            <a:r>
              <a:rPr lang="fr-FR" sz="1700" i="1" spc="10" dirty="0">
                <a:latin typeface="Arial"/>
                <a:cs typeface="Arial"/>
              </a:rPr>
              <a:t>déterminer </a:t>
            </a:r>
            <a:r>
              <a:rPr lang="fr-FR" sz="1700" i="1" spc="-10" dirty="0">
                <a:latin typeface="Arial"/>
                <a:cs typeface="Arial"/>
              </a:rPr>
              <a:t>si </a:t>
            </a:r>
            <a:r>
              <a:rPr lang="fr-FR" sz="1700" i="1" spc="-20" dirty="0">
                <a:latin typeface="Arial"/>
                <a:cs typeface="Arial"/>
              </a:rPr>
              <a:t>les </a:t>
            </a:r>
            <a:r>
              <a:rPr lang="fr-FR" sz="1700" i="1" spc="-10" dirty="0">
                <a:latin typeface="Arial"/>
                <a:cs typeface="Arial"/>
              </a:rPr>
              <a:t>données </a:t>
            </a:r>
            <a:r>
              <a:rPr lang="fr-FR" sz="1700" i="1" dirty="0">
                <a:latin typeface="Arial"/>
                <a:cs typeface="Arial"/>
              </a:rPr>
              <a:t>sur </a:t>
            </a:r>
            <a:r>
              <a:rPr lang="fr-FR" sz="1700" i="1" spc="10" dirty="0">
                <a:latin typeface="Arial"/>
                <a:cs typeface="Arial"/>
              </a:rPr>
              <a:t>l’</a:t>
            </a:r>
            <a:r>
              <a:rPr lang="fr-FR" sz="1700" i="1" spc="5" dirty="0">
                <a:latin typeface="Arial"/>
                <a:cs typeface="Arial"/>
              </a:rPr>
              <a:t>éducation</a:t>
            </a:r>
            <a:r>
              <a:rPr lang="fr-FR" sz="1700" i="1" spc="-35" dirty="0">
                <a:latin typeface="Arial"/>
                <a:cs typeface="Arial"/>
              </a:rPr>
              <a:t> </a:t>
            </a:r>
            <a:r>
              <a:rPr lang="fr-FR" sz="1700" i="1" spc="-5" dirty="0">
                <a:latin typeface="Arial"/>
                <a:cs typeface="Arial"/>
              </a:rPr>
              <a:t>de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15" dirty="0">
                <a:latin typeface="Arial"/>
                <a:cs typeface="Arial"/>
              </a:rPr>
              <a:t>la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-5" dirty="0">
                <a:latin typeface="Arial"/>
                <a:cs typeface="Arial"/>
              </a:rPr>
              <a:t>Banque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dirty="0">
                <a:latin typeface="Arial"/>
                <a:cs typeface="Arial"/>
              </a:rPr>
              <a:t>Mondiale</a:t>
            </a:r>
            <a:r>
              <a:rPr lang="fr-FR" sz="1700" i="1" spc="-30" dirty="0">
                <a:latin typeface="Arial"/>
                <a:cs typeface="Arial"/>
              </a:rPr>
              <a:t> </a:t>
            </a:r>
            <a:r>
              <a:rPr lang="fr-FR" sz="1700" i="1" spc="5" dirty="0">
                <a:latin typeface="Arial"/>
                <a:cs typeface="Arial"/>
              </a:rPr>
              <a:t>conviennent</a:t>
            </a:r>
            <a:endParaRPr lang="fr-FR" sz="1700" dirty="0">
              <a:latin typeface="Arial"/>
              <a:cs typeface="Arial"/>
            </a:endParaRPr>
          </a:p>
          <a:p>
            <a:endParaRPr lang="fr-FR" sz="1700" dirty="0"/>
          </a:p>
        </p:txBody>
      </p:sp>
      <p:pic>
        <p:nvPicPr>
          <p:cNvPr id="10" name="object 14">
            <a:extLst>
              <a:ext uri="{FF2B5EF4-FFF2-40B4-BE49-F238E27FC236}">
                <a16:creationId xmlns:a16="http://schemas.microsoft.com/office/drawing/2014/main" id="{CF4E0AA5-AA60-4DEE-A10C-26BA882443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12" name="object 7">
            <a:extLst>
              <a:ext uri="{FF2B5EF4-FFF2-40B4-BE49-F238E27FC236}">
                <a16:creationId xmlns:a16="http://schemas.microsoft.com/office/drawing/2014/main" id="{A323969B-507C-4FB6-BD34-FC9BC5E47B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E224C11D-12C4-4997-9C45-1C1FC4B03B0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93094" y="5543070"/>
            <a:ext cx="1439343" cy="122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E4D6B4-169D-F4CE-14AD-151A17AB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fr-FR" sz="5400" dirty="0"/>
              <a:t>Découverte des données : 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318023B5-8515-9033-D6B2-53CDFAECF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52201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object 14">
            <a:extLst>
              <a:ext uri="{FF2B5EF4-FFF2-40B4-BE49-F238E27FC236}">
                <a16:creationId xmlns:a16="http://schemas.microsoft.com/office/drawing/2014/main" id="{9EEFF225-7C8F-4279-A85E-0071B1AFBF7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88FF2668-7CF9-43EA-BDCA-71723945ADB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5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2E2CA-C9BD-08D3-B41F-3923ADD2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 </a:t>
            </a:r>
            <a:r>
              <a:rPr lang="fr-FR" dirty="0" err="1"/>
              <a:t>DataSets</a:t>
            </a:r>
            <a:r>
              <a:rPr lang="fr-FR" dirty="0"/>
              <a:t> qui dépendent les uns des autres : </a:t>
            </a:r>
          </a:p>
        </p:txBody>
      </p:sp>
      <p:sp>
        <p:nvSpPr>
          <p:cNvPr id="35" name="Espace réservé du contenu 34">
            <a:extLst>
              <a:ext uri="{FF2B5EF4-FFF2-40B4-BE49-F238E27FC236}">
                <a16:creationId xmlns:a16="http://schemas.microsoft.com/office/drawing/2014/main" id="{BDC4ACE4-8AEF-F41E-2E18-95A53A39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36" name="Diagramme 35">
            <a:extLst>
              <a:ext uri="{FF2B5EF4-FFF2-40B4-BE49-F238E27FC236}">
                <a16:creationId xmlns:a16="http://schemas.microsoft.com/office/drawing/2014/main" id="{A78F004D-C2F9-01DA-9944-20E3E8284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04860"/>
              </p:ext>
            </p:extLst>
          </p:nvPr>
        </p:nvGraphicFramePr>
        <p:xfrm>
          <a:off x="916634" y="1825625"/>
          <a:ext cx="9906000" cy="3576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object 14">
            <a:extLst>
              <a:ext uri="{FF2B5EF4-FFF2-40B4-BE49-F238E27FC236}">
                <a16:creationId xmlns:a16="http://schemas.microsoft.com/office/drawing/2014/main" id="{60B3A3A5-91C1-491E-BF68-D85B5B32CB2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0A5E51B2-6304-479A-9BD8-A57D3899B79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5452" y="6320240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0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334D8-8D54-CEE1-AF3A-87F46E6B3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60835"/>
            <a:ext cx="9905999" cy="446098"/>
          </a:xfrm>
        </p:spPr>
        <p:txBody>
          <a:bodyPr>
            <a:normAutofit fontScale="90000"/>
          </a:bodyPr>
          <a:lstStyle/>
          <a:p>
            <a:r>
              <a:rPr lang="fr-FR" dirty="0"/>
              <a:t>Quelle est la qualité de notre jeu de données?</a:t>
            </a:r>
          </a:p>
        </p:txBody>
      </p:sp>
      <p:sp>
        <p:nvSpPr>
          <p:cNvPr id="4" name="Organigramme : Procédé 3">
            <a:extLst>
              <a:ext uri="{FF2B5EF4-FFF2-40B4-BE49-F238E27FC236}">
                <a16:creationId xmlns:a16="http://schemas.microsoft.com/office/drawing/2014/main" id="{FA653736-B12E-DB44-258D-C85EAB9A95CF}"/>
              </a:ext>
            </a:extLst>
          </p:cNvPr>
          <p:cNvSpPr/>
          <p:nvPr/>
        </p:nvSpPr>
        <p:spPr>
          <a:xfrm>
            <a:off x="552718" y="1365696"/>
            <a:ext cx="3069461" cy="268309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          </a:t>
            </a:r>
            <a:r>
              <a:rPr lang="fr-FR" dirty="0" err="1"/>
              <a:t>EdStatData</a:t>
            </a:r>
            <a:r>
              <a:rPr lang="fr-FR" dirty="0"/>
              <a:t> :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 dirty="0"/>
              <a:t>886930 lignes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70 colonnes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Années allant de 1970 à 2100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Dernière colonne entièrement vide 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80% de données manquantes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99CBBF-7932-69E9-712D-5868BEB2B4E9}"/>
              </a:ext>
            </a:extLst>
          </p:cNvPr>
          <p:cNvSpPr txBox="1"/>
          <p:nvPr/>
        </p:nvSpPr>
        <p:spPr>
          <a:xfrm>
            <a:off x="3871057" y="3236057"/>
            <a:ext cx="464038" cy="24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6" name="Organigramme : Procédé 5">
            <a:extLst>
              <a:ext uri="{FF2B5EF4-FFF2-40B4-BE49-F238E27FC236}">
                <a16:creationId xmlns:a16="http://schemas.microsoft.com/office/drawing/2014/main" id="{A37A97EC-1FD6-877A-35E3-6256FC4EE23B}"/>
              </a:ext>
            </a:extLst>
          </p:cNvPr>
          <p:cNvSpPr/>
          <p:nvPr/>
        </p:nvSpPr>
        <p:spPr>
          <a:xfrm>
            <a:off x="4695421" y="1529366"/>
            <a:ext cx="2371859" cy="171718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EdStatCountry</a:t>
            </a:r>
            <a:r>
              <a:rPr lang="fr-FR" dirty="0"/>
              <a:t> :</a:t>
            </a:r>
          </a:p>
          <a:p>
            <a:pPr marL="285750" indent="-285750" algn="ctr">
              <a:buFont typeface="Arial"/>
              <a:buChar char="•"/>
            </a:pPr>
            <a:r>
              <a:rPr lang="fr-FR" dirty="0"/>
              <a:t>241 lignes</a:t>
            </a:r>
          </a:p>
          <a:p>
            <a:pPr marL="285750" indent="-285750" algn="ctr">
              <a:buFont typeface="Arial"/>
              <a:buChar char="•"/>
            </a:pPr>
            <a:r>
              <a:rPr lang="fr-FR" dirty="0"/>
              <a:t>32 colonnes</a:t>
            </a:r>
          </a:p>
          <a:p>
            <a:pPr marL="285750" indent="-285750" algn="ctr">
              <a:buFont typeface="Arial"/>
              <a:buChar char="•"/>
            </a:pPr>
            <a:r>
              <a:rPr lang="fr-FR" dirty="0"/>
              <a:t>30% de données manquantes </a:t>
            </a:r>
          </a:p>
        </p:txBody>
      </p:sp>
      <p:sp>
        <p:nvSpPr>
          <p:cNvPr id="7" name="Organigramme : Procédé 6">
            <a:extLst>
              <a:ext uri="{FF2B5EF4-FFF2-40B4-BE49-F238E27FC236}">
                <a16:creationId xmlns:a16="http://schemas.microsoft.com/office/drawing/2014/main" id="{EF72E96A-54BB-B284-8F1C-28DBF2F999B3}"/>
              </a:ext>
            </a:extLst>
          </p:cNvPr>
          <p:cNvSpPr/>
          <p:nvPr/>
        </p:nvSpPr>
        <p:spPr>
          <a:xfrm>
            <a:off x="2916528" y="4164169"/>
            <a:ext cx="2285999" cy="194256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EdStatSeries</a:t>
            </a:r>
            <a:r>
              <a:rPr lang="fr-FR" dirty="0"/>
              <a:t> :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3665 lignes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21 colonnes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6 colonnes entièrement vides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80% de données manquantes</a:t>
            </a:r>
          </a:p>
        </p:txBody>
      </p:sp>
      <p:sp>
        <p:nvSpPr>
          <p:cNvPr id="8" name="Organigramme : Procédé 7">
            <a:extLst>
              <a:ext uri="{FF2B5EF4-FFF2-40B4-BE49-F238E27FC236}">
                <a16:creationId xmlns:a16="http://schemas.microsoft.com/office/drawing/2014/main" id="{B675D7A6-4896-A339-2F36-F7C9F82EF5A4}"/>
              </a:ext>
            </a:extLst>
          </p:cNvPr>
          <p:cNvSpPr/>
          <p:nvPr/>
        </p:nvSpPr>
        <p:spPr>
          <a:xfrm>
            <a:off x="7947337" y="1540099"/>
            <a:ext cx="2715295" cy="172791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EdStatFootNote</a:t>
            </a:r>
            <a:r>
              <a:rPr lang="fr-FR" dirty="0"/>
              <a:t> :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643638 lignes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5 colonnes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0 valeur manquante</a:t>
            </a:r>
          </a:p>
        </p:txBody>
      </p:sp>
      <p:sp>
        <p:nvSpPr>
          <p:cNvPr id="9" name="Organigramme : Procédé 8">
            <a:extLst>
              <a:ext uri="{FF2B5EF4-FFF2-40B4-BE49-F238E27FC236}">
                <a16:creationId xmlns:a16="http://schemas.microsoft.com/office/drawing/2014/main" id="{D641FFE9-6D7E-D306-2DEE-D096A653B423}"/>
              </a:ext>
            </a:extLst>
          </p:cNvPr>
          <p:cNvSpPr/>
          <p:nvPr/>
        </p:nvSpPr>
        <p:spPr>
          <a:xfrm>
            <a:off x="6887513" y="4276858"/>
            <a:ext cx="1888900" cy="187816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CountrySeries</a:t>
            </a:r>
            <a:r>
              <a:rPr lang="fr-FR" dirty="0"/>
              <a:t> :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241 lignes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32 colonnes</a:t>
            </a:r>
          </a:p>
          <a:p>
            <a:pPr marL="285750" indent="-285750">
              <a:buFont typeface="Arial"/>
              <a:buChar char="•"/>
            </a:pPr>
            <a:r>
              <a:rPr lang="fr-FR" dirty="0"/>
              <a:t>30% de données manquantes </a:t>
            </a:r>
          </a:p>
        </p:txBody>
      </p:sp>
      <p:sp>
        <p:nvSpPr>
          <p:cNvPr id="10" name="Organigramme : Terminateur 9">
            <a:extLst>
              <a:ext uri="{FF2B5EF4-FFF2-40B4-BE49-F238E27FC236}">
                <a16:creationId xmlns:a16="http://schemas.microsoft.com/office/drawing/2014/main" id="{51482DB2-8935-0B59-7E56-67B397BA4051}"/>
              </a:ext>
            </a:extLst>
          </p:cNvPr>
          <p:cNvSpPr/>
          <p:nvPr/>
        </p:nvSpPr>
        <p:spPr>
          <a:xfrm>
            <a:off x="4199048" y="3431683"/>
            <a:ext cx="3166055" cy="52588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 Doublon sur l'ensemble des </a:t>
            </a:r>
            <a:r>
              <a:rPr lang="fr-FR" dirty="0" err="1"/>
              <a:t>dataSets</a:t>
            </a:r>
            <a:r>
              <a:rPr lang="fr-FR" dirty="0"/>
              <a:t> </a:t>
            </a:r>
          </a:p>
        </p:txBody>
      </p:sp>
      <p:pic>
        <p:nvPicPr>
          <p:cNvPr id="11" name="object 14">
            <a:extLst>
              <a:ext uri="{FF2B5EF4-FFF2-40B4-BE49-F238E27FC236}">
                <a16:creationId xmlns:a16="http://schemas.microsoft.com/office/drawing/2014/main" id="{057821BA-94F5-4E47-AAE4-42E06F1AF3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12" name="object 7">
            <a:extLst>
              <a:ext uri="{FF2B5EF4-FFF2-40B4-BE49-F238E27FC236}">
                <a16:creationId xmlns:a16="http://schemas.microsoft.com/office/drawing/2014/main" id="{5E089DBB-E0FB-46D3-9FD0-FA3F74ABD0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28" y="6320240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8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562" y="106746"/>
            <a:ext cx="9053221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600" spc="207" dirty="0"/>
              <a:t>Analyse</a:t>
            </a:r>
            <a:r>
              <a:rPr sz="3600" spc="7" dirty="0"/>
              <a:t> </a:t>
            </a:r>
            <a:r>
              <a:rPr sz="3600" spc="87" dirty="0"/>
              <a:t>du</a:t>
            </a:r>
            <a:r>
              <a:rPr sz="3600" spc="13" dirty="0"/>
              <a:t> </a:t>
            </a:r>
            <a:r>
              <a:rPr sz="3600" spc="140" dirty="0"/>
              <a:t>remplissage</a:t>
            </a:r>
            <a:r>
              <a:rPr sz="3600" spc="7" dirty="0"/>
              <a:t> </a:t>
            </a:r>
            <a:r>
              <a:rPr sz="3600" spc="67" dirty="0"/>
              <a:t>pour</a:t>
            </a:r>
            <a:r>
              <a:rPr sz="3600" spc="13" dirty="0"/>
              <a:t> </a:t>
            </a:r>
            <a:r>
              <a:rPr lang="fr-FR" sz="3600" spc="53" dirty="0" err="1"/>
              <a:t>EdStats</a:t>
            </a:r>
            <a:r>
              <a:rPr sz="3600" spc="53" dirty="0"/>
              <a:t>Data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833701" y="789001"/>
            <a:ext cx="6986735" cy="5934457"/>
            <a:chOff x="2125275" y="591750"/>
            <a:chExt cx="5240051" cy="445084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5275" y="591750"/>
              <a:ext cx="5240051" cy="44508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34283" y="1339551"/>
              <a:ext cx="910590" cy="422275"/>
            </a:xfrm>
            <a:custGeom>
              <a:avLst/>
              <a:gdLst/>
              <a:ahLst/>
              <a:cxnLst/>
              <a:rect l="l" t="t" r="r" b="b"/>
              <a:pathLst>
                <a:path w="910589" h="422275">
                  <a:moveTo>
                    <a:pt x="13171" y="105448"/>
                  </a:moveTo>
                  <a:lnTo>
                    <a:pt x="0" y="105448"/>
                  </a:lnTo>
                  <a:lnTo>
                    <a:pt x="0" y="316362"/>
                  </a:lnTo>
                  <a:lnTo>
                    <a:pt x="13171" y="316362"/>
                  </a:lnTo>
                  <a:lnTo>
                    <a:pt x="13171" y="105448"/>
                  </a:lnTo>
                  <a:close/>
                </a:path>
                <a:path w="910589" h="422275">
                  <a:moveTo>
                    <a:pt x="52707" y="105448"/>
                  </a:moveTo>
                  <a:lnTo>
                    <a:pt x="26339" y="105448"/>
                  </a:lnTo>
                  <a:lnTo>
                    <a:pt x="26339" y="316362"/>
                  </a:lnTo>
                  <a:lnTo>
                    <a:pt x="52707" y="316362"/>
                  </a:lnTo>
                  <a:lnTo>
                    <a:pt x="52707" y="105448"/>
                  </a:lnTo>
                  <a:close/>
                </a:path>
                <a:path w="910589" h="422275">
                  <a:moveTo>
                    <a:pt x="699293" y="0"/>
                  </a:moveTo>
                  <a:lnTo>
                    <a:pt x="699293" y="105448"/>
                  </a:lnTo>
                  <a:lnTo>
                    <a:pt x="65906" y="105448"/>
                  </a:lnTo>
                  <a:lnTo>
                    <a:pt x="65906" y="316357"/>
                  </a:lnTo>
                  <a:lnTo>
                    <a:pt x="699293" y="316357"/>
                  </a:lnTo>
                  <a:lnTo>
                    <a:pt x="699293" y="421805"/>
                  </a:lnTo>
                  <a:lnTo>
                    <a:pt x="910183" y="210889"/>
                  </a:lnTo>
                  <a:lnTo>
                    <a:pt x="699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033928" y="1277114"/>
              <a:ext cx="910590" cy="422275"/>
            </a:xfrm>
            <a:custGeom>
              <a:avLst/>
              <a:gdLst/>
              <a:ahLst/>
              <a:cxnLst/>
              <a:rect l="l" t="t" r="r" b="b"/>
              <a:pathLst>
                <a:path w="910589" h="422275">
                  <a:moveTo>
                    <a:pt x="0" y="105448"/>
                  </a:moveTo>
                  <a:lnTo>
                    <a:pt x="13171" y="105448"/>
                  </a:lnTo>
                  <a:lnTo>
                    <a:pt x="13171" y="316362"/>
                  </a:lnTo>
                  <a:lnTo>
                    <a:pt x="0" y="316362"/>
                  </a:lnTo>
                  <a:lnTo>
                    <a:pt x="0" y="105448"/>
                  </a:lnTo>
                  <a:close/>
                </a:path>
                <a:path w="910589" h="422275">
                  <a:moveTo>
                    <a:pt x="26339" y="105448"/>
                  </a:moveTo>
                  <a:lnTo>
                    <a:pt x="52707" y="105448"/>
                  </a:lnTo>
                  <a:lnTo>
                    <a:pt x="52707" y="316362"/>
                  </a:lnTo>
                  <a:lnTo>
                    <a:pt x="26339" y="316362"/>
                  </a:lnTo>
                  <a:lnTo>
                    <a:pt x="26339" y="105448"/>
                  </a:lnTo>
                  <a:close/>
                </a:path>
                <a:path w="910589" h="422275">
                  <a:moveTo>
                    <a:pt x="65906" y="105448"/>
                  </a:moveTo>
                  <a:lnTo>
                    <a:pt x="699293" y="105448"/>
                  </a:lnTo>
                  <a:lnTo>
                    <a:pt x="699293" y="0"/>
                  </a:lnTo>
                  <a:lnTo>
                    <a:pt x="910183" y="210889"/>
                  </a:lnTo>
                  <a:lnTo>
                    <a:pt x="699293" y="421805"/>
                  </a:lnTo>
                  <a:lnTo>
                    <a:pt x="699293" y="316357"/>
                  </a:lnTo>
                  <a:lnTo>
                    <a:pt x="65906" y="316357"/>
                  </a:lnTo>
                  <a:lnTo>
                    <a:pt x="65906" y="105448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09784" y="1744759"/>
            <a:ext cx="298196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spc="-20" dirty="0">
                <a:solidFill>
                  <a:srgbClr val="00507C"/>
                </a:solidFill>
                <a:latin typeface="Roboto"/>
                <a:cs typeface="Roboto"/>
              </a:rPr>
              <a:t>Données prédictives</a:t>
            </a:r>
            <a:r>
              <a:rPr sz="1867" spc="-13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507C"/>
                </a:solidFill>
                <a:latin typeface="Roboto"/>
                <a:cs typeface="Roboto"/>
              </a:rPr>
              <a:t>avec </a:t>
            </a:r>
            <a:r>
              <a:rPr sz="1867" spc="-13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sz="1867" spc="-7" dirty="0">
                <a:solidFill>
                  <a:srgbClr val="00507C"/>
                </a:solidFill>
                <a:latin typeface="Roboto"/>
                <a:cs typeface="Roboto"/>
              </a:rPr>
              <a:t>90%</a:t>
            </a:r>
            <a:r>
              <a:rPr sz="1867" spc="-4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sz="1867" spc="-7" dirty="0">
                <a:solidFill>
                  <a:srgbClr val="00507C"/>
                </a:solidFill>
                <a:latin typeface="Roboto"/>
                <a:cs typeface="Roboto"/>
              </a:rPr>
              <a:t>de</a:t>
            </a:r>
            <a:r>
              <a:rPr sz="1867" spc="-33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sz="1867" spc="-27" dirty="0">
                <a:solidFill>
                  <a:srgbClr val="00507C"/>
                </a:solidFill>
                <a:latin typeface="Roboto"/>
                <a:cs typeface="Roboto"/>
              </a:rPr>
              <a:t>valeurs</a:t>
            </a:r>
            <a:r>
              <a:rPr sz="1867" spc="-4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507C"/>
                </a:solidFill>
                <a:latin typeface="Roboto"/>
                <a:cs typeface="Roboto"/>
              </a:rPr>
              <a:t>manquantes</a:t>
            </a:r>
            <a:endParaRPr sz="1867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23031" y="1459907"/>
            <a:ext cx="3141133" cy="4790439"/>
            <a:chOff x="2267273" y="1094930"/>
            <a:chExt cx="2355850" cy="3592829"/>
          </a:xfrm>
        </p:grpSpPr>
        <p:sp>
          <p:nvSpPr>
            <p:cNvPr id="9" name="object 9"/>
            <p:cNvSpPr/>
            <p:nvPr/>
          </p:nvSpPr>
          <p:spPr>
            <a:xfrm>
              <a:off x="2272036" y="1099692"/>
              <a:ext cx="2028189" cy="3583304"/>
            </a:xfrm>
            <a:custGeom>
              <a:avLst/>
              <a:gdLst/>
              <a:ahLst/>
              <a:cxnLst/>
              <a:rect l="l" t="t" r="r" b="b"/>
              <a:pathLst>
                <a:path w="2028189" h="3583304">
                  <a:moveTo>
                    <a:pt x="1087856" y="2918714"/>
                  </a:moveTo>
                  <a:lnTo>
                    <a:pt x="1101052" y="2918714"/>
                  </a:lnTo>
                  <a:lnTo>
                    <a:pt x="1101052" y="3129603"/>
                  </a:lnTo>
                  <a:lnTo>
                    <a:pt x="1087856" y="3129603"/>
                  </a:lnTo>
                  <a:lnTo>
                    <a:pt x="1087856" y="2918714"/>
                  </a:lnTo>
                  <a:close/>
                </a:path>
                <a:path w="2028189" h="3583304">
                  <a:moveTo>
                    <a:pt x="1114228" y="2918714"/>
                  </a:moveTo>
                  <a:lnTo>
                    <a:pt x="1140595" y="2918714"/>
                  </a:lnTo>
                  <a:lnTo>
                    <a:pt x="1140595" y="3129603"/>
                  </a:lnTo>
                  <a:lnTo>
                    <a:pt x="1114228" y="3129603"/>
                  </a:lnTo>
                  <a:lnTo>
                    <a:pt x="1114228" y="2918714"/>
                  </a:lnTo>
                  <a:close/>
                </a:path>
                <a:path w="2028189" h="3583304">
                  <a:moveTo>
                    <a:pt x="1153763" y="2918714"/>
                  </a:moveTo>
                  <a:lnTo>
                    <a:pt x="1816868" y="2918714"/>
                  </a:lnTo>
                  <a:lnTo>
                    <a:pt x="1816868" y="2813246"/>
                  </a:lnTo>
                  <a:lnTo>
                    <a:pt x="2027758" y="3024162"/>
                  </a:lnTo>
                  <a:lnTo>
                    <a:pt x="1816868" y="3235051"/>
                  </a:lnTo>
                  <a:lnTo>
                    <a:pt x="1816868" y="3129603"/>
                  </a:lnTo>
                  <a:lnTo>
                    <a:pt x="1153763" y="3129603"/>
                  </a:lnTo>
                  <a:lnTo>
                    <a:pt x="1153763" y="2918714"/>
                  </a:lnTo>
                  <a:close/>
                </a:path>
                <a:path w="2028189" h="3583304">
                  <a:moveTo>
                    <a:pt x="0" y="2130723"/>
                  </a:moveTo>
                  <a:lnTo>
                    <a:pt x="6475" y="2082521"/>
                  </a:lnTo>
                  <a:lnTo>
                    <a:pt x="24750" y="2039207"/>
                  </a:lnTo>
                  <a:lnTo>
                    <a:pt x="53097" y="2002509"/>
                  </a:lnTo>
                  <a:lnTo>
                    <a:pt x="89789" y="1974155"/>
                  </a:lnTo>
                  <a:lnTo>
                    <a:pt x="133098" y="1955876"/>
                  </a:lnTo>
                  <a:lnTo>
                    <a:pt x="181298" y="1949399"/>
                  </a:lnTo>
                  <a:lnTo>
                    <a:pt x="906487" y="1949399"/>
                  </a:lnTo>
                  <a:lnTo>
                    <a:pt x="975865" y="1963200"/>
                  </a:lnTo>
                  <a:lnTo>
                    <a:pt x="1034675" y="2002504"/>
                  </a:lnTo>
                  <a:lnTo>
                    <a:pt x="1073981" y="2061329"/>
                  </a:lnTo>
                  <a:lnTo>
                    <a:pt x="1087780" y="2130723"/>
                  </a:lnTo>
                  <a:lnTo>
                    <a:pt x="1087780" y="3401612"/>
                  </a:lnTo>
                  <a:lnTo>
                    <a:pt x="1081305" y="3449803"/>
                  </a:lnTo>
                  <a:lnTo>
                    <a:pt x="1063030" y="3493110"/>
                  </a:lnTo>
                  <a:lnTo>
                    <a:pt x="1034684" y="3529804"/>
                  </a:lnTo>
                  <a:lnTo>
                    <a:pt x="997993" y="3558155"/>
                  </a:lnTo>
                  <a:lnTo>
                    <a:pt x="954685" y="3576434"/>
                  </a:lnTo>
                  <a:lnTo>
                    <a:pt x="906487" y="3582911"/>
                  </a:lnTo>
                  <a:lnTo>
                    <a:pt x="181298" y="3582911"/>
                  </a:lnTo>
                  <a:lnTo>
                    <a:pt x="133098" y="3576434"/>
                  </a:lnTo>
                  <a:lnTo>
                    <a:pt x="89788" y="3558155"/>
                  </a:lnTo>
                  <a:lnTo>
                    <a:pt x="53097" y="3529804"/>
                  </a:lnTo>
                  <a:lnTo>
                    <a:pt x="24750" y="3493110"/>
                  </a:lnTo>
                  <a:lnTo>
                    <a:pt x="6475" y="3449803"/>
                  </a:lnTo>
                  <a:lnTo>
                    <a:pt x="0" y="3401612"/>
                  </a:lnTo>
                  <a:lnTo>
                    <a:pt x="0" y="2130723"/>
                  </a:lnTo>
                  <a:close/>
                </a:path>
                <a:path w="2028189" h="3583304">
                  <a:moveTo>
                    <a:pt x="0" y="127044"/>
                  </a:moveTo>
                  <a:lnTo>
                    <a:pt x="9983" y="77602"/>
                  </a:lnTo>
                  <a:lnTo>
                    <a:pt x="37210" y="37218"/>
                  </a:lnTo>
                  <a:lnTo>
                    <a:pt x="77594" y="9986"/>
                  </a:lnTo>
                  <a:lnTo>
                    <a:pt x="127050" y="0"/>
                  </a:lnTo>
                  <a:lnTo>
                    <a:pt x="635247" y="0"/>
                  </a:lnTo>
                  <a:lnTo>
                    <a:pt x="683857" y="9675"/>
                  </a:lnTo>
                  <a:lnTo>
                    <a:pt x="725062" y="37230"/>
                  </a:lnTo>
                  <a:lnTo>
                    <a:pt x="752619" y="78436"/>
                  </a:lnTo>
                  <a:lnTo>
                    <a:pt x="762298" y="127044"/>
                  </a:lnTo>
                  <a:lnTo>
                    <a:pt x="762298" y="830560"/>
                  </a:lnTo>
                  <a:lnTo>
                    <a:pt x="752311" y="880013"/>
                  </a:lnTo>
                  <a:lnTo>
                    <a:pt x="725078" y="920395"/>
                  </a:lnTo>
                  <a:lnTo>
                    <a:pt x="684693" y="947622"/>
                  </a:lnTo>
                  <a:lnTo>
                    <a:pt x="635247" y="957605"/>
                  </a:lnTo>
                  <a:lnTo>
                    <a:pt x="127050" y="957605"/>
                  </a:lnTo>
                  <a:lnTo>
                    <a:pt x="77594" y="947622"/>
                  </a:lnTo>
                  <a:lnTo>
                    <a:pt x="37210" y="920395"/>
                  </a:lnTo>
                  <a:lnTo>
                    <a:pt x="9983" y="880013"/>
                  </a:lnTo>
                  <a:lnTo>
                    <a:pt x="0" y="830560"/>
                  </a:lnTo>
                  <a:lnTo>
                    <a:pt x="0" y="127044"/>
                  </a:lnTo>
                  <a:close/>
                </a:path>
                <a:path w="2028189" h="3583304">
                  <a:moveTo>
                    <a:pt x="0" y="1175569"/>
                  </a:moveTo>
                  <a:lnTo>
                    <a:pt x="8134" y="1125116"/>
                  </a:lnTo>
                  <a:lnTo>
                    <a:pt x="30788" y="1081299"/>
                  </a:lnTo>
                  <a:lnTo>
                    <a:pt x="65333" y="1046746"/>
                  </a:lnTo>
                  <a:lnTo>
                    <a:pt x="109144" y="1024086"/>
                  </a:lnTo>
                  <a:lnTo>
                    <a:pt x="159594" y="1015949"/>
                  </a:lnTo>
                  <a:lnTo>
                    <a:pt x="1512887" y="1015949"/>
                  </a:lnTo>
                  <a:lnTo>
                    <a:pt x="1573957" y="1028099"/>
                  </a:lnTo>
                  <a:lnTo>
                    <a:pt x="1625746" y="1062704"/>
                  </a:lnTo>
                  <a:lnTo>
                    <a:pt x="1660332" y="1114486"/>
                  </a:lnTo>
                  <a:lnTo>
                    <a:pt x="1672482" y="1175569"/>
                  </a:lnTo>
                  <a:lnTo>
                    <a:pt x="1672482" y="1813966"/>
                  </a:lnTo>
                  <a:lnTo>
                    <a:pt x="1664347" y="1864406"/>
                  </a:lnTo>
                  <a:lnTo>
                    <a:pt x="1641693" y="1908216"/>
                  </a:lnTo>
                  <a:lnTo>
                    <a:pt x="1607148" y="1942765"/>
                  </a:lnTo>
                  <a:lnTo>
                    <a:pt x="1563337" y="1965423"/>
                  </a:lnTo>
                  <a:lnTo>
                    <a:pt x="1512887" y="1973560"/>
                  </a:lnTo>
                  <a:lnTo>
                    <a:pt x="159594" y="1973560"/>
                  </a:lnTo>
                  <a:lnTo>
                    <a:pt x="109144" y="1965423"/>
                  </a:lnTo>
                  <a:lnTo>
                    <a:pt x="65333" y="1942765"/>
                  </a:lnTo>
                  <a:lnTo>
                    <a:pt x="30788" y="1908216"/>
                  </a:lnTo>
                  <a:lnTo>
                    <a:pt x="8134" y="1864406"/>
                  </a:lnTo>
                  <a:lnTo>
                    <a:pt x="0" y="1813966"/>
                  </a:lnTo>
                  <a:lnTo>
                    <a:pt x="0" y="1175569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4518" y="2383554"/>
              <a:ext cx="673735" cy="422275"/>
            </a:xfrm>
            <a:custGeom>
              <a:avLst/>
              <a:gdLst/>
              <a:ahLst/>
              <a:cxnLst/>
              <a:rect l="l" t="t" r="r" b="b"/>
              <a:pathLst>
                <a:path w="673735" h="422275">
                  <a:moveTo>
                    <a:pt x="13196" y="105448"/>
                  </a:moveTo>
                  <a:lnTo>
                    <a:pt x="0" y="105448"/>
                  </a:lnTo>
                  <a:lnTo>
                    <a:pt x="0" y="316337"/>
                  </a:lnTo>
                  <a:lnTo>
                    <a:pt x="13196" y="316337"/>
                  </a:lnTo>
                  <a:lnTo>
                    <a:pt x="13196" y="105448"/>
                  </a:lnTo>
                  <a:close/>
                </a:path>
                <a:path w="673735" h="422275">
                  <a:moveTo>
                    <a:pt x="52732" y="105448"/>
                  </a:moveTo>
                  <a:lnTo>
                    <a:pt x="26365" y="105448"/>
                  </a:lnTo>
                  <a:lnTo>
                    <a:pt x="26365" y="316337"/>
                  </a:lnTo>
                  <a:lnTo>
                    <a:pt x="52732" y="316337"/>
                  </a:lnTo>
                  <a:lnTo>
                    <a:pt x="52732" y="105448"/>
                  </a:lnTo>
                  <a:close/>
                </a:path>
                <a:path w="673735" h="422275">
                  <a:moveTo>
                    <a:pt x="462603" y="0"/>
                  </a:moveTo>
                  <a:lnTo>
                    <a:pt x="462603" y="105448"/>
                  </a:lnTo>
                  <a:lnTo>
                    <a:pt x="65906" y="105448"/>
                  </a:lnTo>
                  <a:lnTo>
                    <a:pt x="65906" y="316337"/>
                  </a:lnTo>
                  <a:lnTo>
                    <a:pt x="462603" y="316337"/>
                  </a:lnTo>
                  <a:lnTo>
                    <a:pt x="462603" y="421805"/>
                  </a:lnTo>
                  <a:lnTo>
                    <a:pt x="673519" y="210889"/>
                  </a:lnTo>
                  <a:lnTo>
                    <a:pt x="462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44518" y="2383554"/>
              <a:ext cx="673735" cy="422275"/>
            </a:xfrm>
            <a:custGeom>
              <a:avLst/>
              <a:gdLst/>
              <a:ahLst/>
              <a:cxnLst/>
              <a:rect l="l" t="t" r="r" b="b"/>
              <a:pathLst>
                <a:path w="673735" h="422275">
                  <a:moveTo>
                    <a:pt x="0" y="105448"/>
                  </a:moveTo>
                  <a:lnTo>
                    <a:pt x="13196" y="105448"/>
                  </a:lnTo>
                  <a:lnTo>
                    <a:pt x="13196" y="316337"/>
                  </a:lnTo>
                  <a:lnTo>
                    <a:pt x="0" y="316337"/>
                  </a:lnTo>
                  <a:lnTo>
                    <a:pt x="0" y="105448"/>
                  </a:lnTo>
                  <a:close/>
                </a:path>
                <a:path w="673735" h="422275">
                  <a:moveTo>
                    <a:pt x="26365" y="105448"/>
                  </a:moveTo>
                  <a:lnTo>
                    <a:pt x="52732" y="105448"/>
                  </a:lnTo>
                  <a:lnTo>
                    <a:pt x="52732" y="316337"/>
                  </a:lnTo>
                  <a:lnTo>
                    <a:pt x="26365" y="316337"/>
                  </a:lnTo>
                  <a:lnTo>
                    <a:pt x="26365" y="105448"/>
                  </a:lnTo>
                  <a:close/>
                </a:path>
                <a:path w="673735" h="422275">
                  <a:moveTo>
                    <a:pt x="65906" y="105448"/>
                  </a:moveTo>
                  <a:lnTo>
                    <a:pt x="462603" y="105448"/>
                  </a:lnTo>
                  <a:lnTo>
                    <a:pt x="462603" y="0"/>
                  </a:lnTo>
                  <a:lnTo>
                    <a:pt x="673519" y="210889"/>
                  </a:lnTo>
                  <a:lnTo>
                    <a:pt x="462603" y="421805"/>
                  </a:lnTo>
                  <a:lnTo>
                    <a:pt x="462603" y="316337"/>
                  </a:lnTo>
                  <a:lnTo>
                    <a:pt x="65906" y="316337"/>
                  </a:lnTo>
                  <a:lnTo>
                    <a:pt x="65906" y="105448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19318" y="3136731"/>
            <a:ext cx="3186007" cy="31492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06390" marR="433482" algn="just">
              <a:spcBef>
                <a:spcPts val="133"/>
              </a:spcBef>
            </a:pP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Maximum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de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données </a:t>
            </a:r>
            <a:r>
              <a:rPr sz="1867" spc="-453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renseignées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à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30%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en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2010.</a:t>
            </a:r>
            <a:endParaRPr sz="1867">
              <a:latin typeface="Roboto"/>
              <a:cs typeface="Roboto"/>
            </a:endParaRPr>
          </a:p>
          <a:p>
            <a:pPr marL="406390" marR="210815" algn="just"/>
            <a:r>
              <a:rPr sz="1867" spc="-27" dirty="0">
                <a:solidFill>
                  <a:srgbClr val="003F64"/>
                </a:solidFill>
                <a:latin typeface="Roboto"/>
                <a:cs typeface="Roboto"/>
              </a:rPr>
              <a:t>Environ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80% de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données </a:t>
            </a:r>
            <a:r>
              <a:rPr sz="1867" spc="-447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manquantes</a:t>
            </a:r>
            <a:endParaRPr sz="1867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33">
              <a:latin typeface="Roboto"/>
              <a:cs typeface="Roboto"/>
            </a:endParaRPr>
          </a:p>
          <a:p>
            <a:pPr marL="16933" algn="just">
              <a:spcBef>
                <a:spcPts val="1700"/>
              </a:spcBef>
            </a:pP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Données</a:t>
            </a:r>
            <a:r>
              <a:rPr sz="1867" spc="-60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historiques,</a:t>
            </a:r>
            <a:endParaRPr sz="1867">
              <a:latin typeface="Roboto"/>
              <a:cs typeface="Roboto"/>
            </a:endParaRPr>
          </a:p>
          <a:p>
            <a:pPr marL="16933" marR="6773" algn="just"/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on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observe </a:t>
            </a:r>
            <a:r>
              <a:rPr sz="1867" spc="-40" dirty="0">
                <a:solidFill>
                  <a:srgbClr val="003F64"/>
                </a:solidFill>
                <a:latin typeface="Roboto"/>
                <a:cs typeface="Roboto"/>
              </a:rPr>
              <a:t>un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pic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de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données </a:t>
            </a:r>
            <a:r>
              <a:rPr sz="1867" spc="-447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27" dirty="0">
                <a:solidFill>
                  <a:srgbClr val="003F64"/>
                </a:solidFill>
                <a:latin typeface="Roboto"/>
                <a:cs typeface="Roboto"/>
              </a:rPr>
              <a:t>tous </a:t>
            </a:r>
            <a:r>
              <a:rPr sz="1867" spc="-13" dirty="0">
                <a:solidFill>
                  <a:srgbClr val="003F64"/>
                </a:solidFill>
                <a:latin typeface="Roboto"/>
                <a:cs typeface="Roboto"/>
              </a:rPr>
              <a:t>les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5 </a:t>
            </a:r>
            <a:r>
              <a:rPr sz="1867" spc="-27" dirty="0">
                <a:solidFill>
                  <a:srgbClr val="003F64"/>
                </a:solidFill>
                <a:latin typeface="Roboto"/>
                <a:cs typeface="Roboto"/>
              </a:rPr>
              <a:t>ans. </a:t>
            </a:r>
            <a:r>
              <a:rPr sz="1867" spc="-7" dirty="0">
                <a:solidFill>
                  <a:srgbClr val="003F64"/>
                </a:solidFill>
                <a:latin typeface="Roboto"/>
                <a:cs typeface="Roboto"/>
              </a:rPr>
              <a:t>95% de </a:t>
            </a:r>
            <a:r>
              <a:rPr sz="1867" spc="-27" dirty="0">
                <a:solidFill>
                  <a:srgbClr val="003F64"/>
                </a:solidFill>
                <a:latin typeface="Roboto"/>
                <a:cs typeface="Roboto"/>
              </a:rPr>
              <a:t>valeurs </a:t>
            </a:r>
            <a:r>
              <a:rPr sz="1867" spc="-447" dirty="0">
                <a:solidFill>
                  <a:srgbClr val="003F64"/>
                </a:solidFill>
                <a:latin typeface="Roboto"/>
                <a:cs typeface="Roboto"/>
              </a:rPr>
              <a:t> </a:t>
            </a:r>
            <a:r>
              <a:rPr sz="1867" spc="-20" dirty="0">
                <a:solidFill>
                  <a:srgbClr val="003F64"/>
                </a:solidFill>
                <a:latin typeface="Roboto"/>
                <a:cs typeface="Roboto"/>
              </a:rPr>
              <a:t>manquantes.</a:t>
            </a:r>
            <a:endParaRPr sz="1867">
              <a:latin typeface="Roboto"/>
              <a:cs typeface="Roboto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466" y="6243473"/>
            <a:ext cx="426132" cy="42611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00902" y="4383781"/>
            <a:ext cx="2132753" cy="846667"/>
            <a:chOff x="450676" y="3287836"/>
            <a:chExt cx="1599565" cy="63500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579" y="3297361"/>
              <a:ext cx="1459584" cy="61557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5439" y="3292599"/>
              <a:ext cx="1590040" cy="625475"/>
            </a:xfrm>
            <a:custGeom>
              <a:avLst/>
              <a:gdLst/>
              <a:ahLst/>
              <a:cxnLst/>
              <a:rect l="l" t="t" r="r" b="b"/>
              <a:pathLst>
                <a:path w="1590039" h="625475">
                  <a:moveTo>
                    <a:pt x="0" y="625102"/>
                  </a:moveTo>
                  <a:lnTo>
                    <a:pt x="1589487" y="625102"/>
                  </a:lnTo>
                  <a:lnTo>
                    <a:pt x="1589487" y="0"/>
                  </a:lnTo>
                  <a:lnTo>
                    <a:pt x="0" y="0"/>
                  </a:lnTo>
                  <a:lnTo>
                    <a:pt x="0" y="62510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/>
          <p:nvPr/>
        </p:nvSpPr>
        <p:spPr>
          <a:xfrm>
            <a:off x="1710369" y="5416413"/>
            <a:ext cx="898313" cy="1188720"/>
          </a:xfrm>
          <a:custGeom>
            <a:avLst/>
            <a:gdLst/>
            <a:ahLst/>
            <a:cxnLst/>
            <a:rect l="l" t="t" r="r" b="b"/>
            <a:pathLst>
              <a:path w="673735" h="891539">
                <a:moveTo>
                  <a:pt x="0" y="0"/>
                </a:moveTo>
                <a:lnTo>
                  <a:pt x="0" y="558281"/>
                </a:lnTo>
                <a:lnTo>
                  <a:pt x="3607" y="607455"/>
                </a:lnTo>
                <a:lnTo>
                  <a:pt x="14088" y="654390"/>
                </a:lnTo>
                <a:lnTo>
                  <a:pt x="30926" y="698573"/>
                </a:lnTo>
                <a:lnTo>
                  <a:pt x="53607" y="739489"/>
                </a:lnTo>
                <a:lnTo>
                  <a:pt x="81615" y="776622"/>
                </a:lnTo>
                <a:lnTo>
                  <a:pt x="114437" y="809458"/>
                </a:lnTo>
                <a:lnTo>
                  <a:pt x="151558" y="837481"/>
                </a:lnTo>
                <a:lnTo>
                  <a:pt x="192462" y="860178"/>
                </a:lnTo>
                <a:lnTo>
                  <a:pt x="236635" y="877033"/>
                </a:lnTo>
                <a:lnTo>
                  <a:pt x="283561" y="887532"/>
                </a:lnTo>
                <a:lnTo>
                  <a:pt x="332727" y="891160"/>
                </a:lnTo>
                <a:lnTo>
                  <a:pt x="522808" y="891234"/>
                </a:lnTo>
                <a:lnTo>
                  <a:pt x="673493" y="800350"/>
                </a:lnTo>
                <a:lnTo>
                  <a:pt x="522808" y="709341"/>
                </a:lnTo>
                <a:lnTo>
                  <a:pt x="332727" y="709242"/>
                </a:lnTo>
                <a:lnTo>
                  <a:pt x="285058" y="701537"/>
                </a:lnTo>
                <a:lnTo>
                  <a:pt x="243658" y="680110"/>
                </a:lnTo>
                <a:lnTo>
                  <a:pt x="211012" y="647449"/>
                </a:lnTo>
                <a:lnTo>
                  <a:pt x="189603" y="606043"/>
                </a:lnTo>
                <a:lnTo>
                  <a:pt x="181914" y="558380"/>
                </a:lnTo>
                <a:lnTo>
                  <a:pt x="181914" y="10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8754770" y="4757588"/>
            <a:ext cx="341629" cy="192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000" b="0" i="0" kern="1200">
                <a:solidFill>
                  <a:srgbClr val="0176BC"/>
                </a:solidFill>
                <a:latin typeface="Roboto"/>
                <a:ea typeface="+mn-ea"/>
                <a:cs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635">
              <a:spcBef>
                <a:spcPts val="25"/>
              </a:spcBef>
            </a:pPr>
            <a:fld id="{81D60167-4931-47E6-BA6A-407CBD079E47}" type="slidenum">
              <a:rPr lang="fr-FR" spc="-5" smtClean="0"/>
              <a:pPr marL="127635">
                <a:spcBef>
                  <a:spcPts val="25"/>
                </a:spcBef>
              </a:pPr>
              <a:t>6</a:t>
            </a:fld>
            <a:endParaRPr spc="-7" dirty="0"/>
          </a:p>
        </p:txBody>
      </p:sp>
    </p:spTree>
    <p:extLst>
      <p:ext uri="{BB962C8B-B14F-4D97-AF65-F5344CB8AC3E}">
        <p14:creationId xmlns:p14="http://schemas.microsoft.com/office/powerpoint/2010/main" val="104615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EB6E95-9C89-4CFF-A598-F278D0DF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CD0F4-EA2A-4E5D-AE73-1112C1CA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570D67-47C7-AD49-9C44-5FA2D05DC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365403"/>
            <a:ext cx="6196391" cy="4127194"/>
          </a:xfrm>
        </p:spPr>
        <p:txBody>
          <a:bodyPr anchor="ctr">
            <a:normAutofit/>
          </a:bodyPr>
          <a:lstStyle/>
          <a:p>
            <a:pPr algn="l"/>
            <a:r>
              <a:rPr lang="fr-FR" sz="5200">
                <a:solidFill>
                  <a:schemeClr val="tx2"/>
                </a:solidFill>
              </a:rPr>
              <a:t>Exploration des données :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22000254-44E4-4D94-BCA6-10244FA00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2488" y="1200627"/>
            <a:ext cx="3122763" cy="4456747"/>
          </a:xfrm>
        </p:spPr>
        <p:txBody>
          <a:bodyPr anchor="ctr">
            <a:normAutofit/>
          </a:bodyPr>
          <a:lstStyle/>
          <a:p>
            <a:pPr algn="l"/>
            <a:r>
              <a:rPr lang="fr-FR">
                <a:solidFill>
                  <a:schemeClr val="tx2"/>
                </a:solidFill>
              </a:rPr>
              <a:t>Sélection des indicateurs</a:t>
            </a:r>
          </a:p>
          <a:p>
            <a:pPr algn="l"/>
            <a:r>
              <a:rPr lang="fr-FR">
                <a:solidFill>
                  <a:schemeClr val="tx2"/>
                </a:solidFill>
              </a:rPr>
              <a:t>Filtrage</a:t>
            </a:r>
          </a:p>
          <a:p>
            <a:pPr algn="l"/>
            <a:r>
              <a:rPr lang="fr-FR">
                <a:solidFill>
                  <a:schemeClr val="tx2"/>
                </a:solidFill>
              </a:rPr>
              <a:t>Statistiques descriptives 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EDC8FC-C3D1-4FE4-8E66-29767478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638344-E7F0-4958-8208-ADCB8225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1970FB-4D97-4834-84EC-E48B27CC1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A7D5D6-1774-4826-A365-56CA591C9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CE5CDD-EDFB-416F-889C-A7DB46A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C136B2-4D8D-4561-95D5-56167F41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114799"/>
            <a:ext cx="3655725" cy="2743201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3B060E-7597-4B31-9EBE-16DBC974C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7A35E4-8449-4A65-9CFF-F87916203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774B36-1747-45AE-82C4-C5BA90C5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022F94E-D4FB-4369-A3EE-7D82330BA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object 14">
            <a:extLst>
              <a:ext uri="{FF2B5EF4-FFF2-40B4-BE49-F238E27FC236}">
                <a16:creationId xmlns:a16="http://schemas.microsoft.com/office/drawing/2014/main" id="{B35CAF09-5F01-4084-839E-A98EEB5433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7856222D-1BD5-4FD0-86B8-ED7B708F64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28" y="6320240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65" y="369899"/>
            <a:ext cx="1717167" cy="62439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5767" y="68089"/>
            <a:ext cx="8945879" cy="1368750"/>
          </a:xfrm>
          <a:prstGeom prst="rect">
            <a:avLst/>
          </a:prstGeom>
        </p:spPr>
        <p:txBody>
          <a:bodyPr vert="horz" wrap="square" lIns="0" tIns="14393" rIns="0" bIns="0" rtlCol="0" anchor="ctr">
            <a:spAutoFit/>
          </a:bodyPr>
          <a:lstStyle/>
          <a:p>
            <a:pPr marL="16933" marR="6773">
              <a:lnSpc>
                <a:spcPct val="100400"/>
              </a:lnSpc>
              <a:spcBef>
                <a:spcPts val="113"/>
              </a:spcBef>
            </a:pPr>
            <a:r>
              <a:rPr spc="-100" dirty="0"/>
              <a:t> </a:t>
            </a:r>
            <a:r>
              <a:rPr spc="53" dirty="0" err="1"/>
              <a:t>Inégalité</a:t>
            </a:r>
            <a:r>
              <a:rPr spc="-100" dirty="0"/>
              <a:t> </a:t>
            </a:r>
            <a:r>
              <a:rPr spc="53" dirty="0"/>
              <a:t>du</a:t>
            </a:r>
            <a:r>
              <a:rPr lang="fr-FR" spc="53" dirty="0"/>
              <a:t> n</a:t>
            </a:r>
            <a:r>
              <a:rPr spc="53" dirty="0"/>
              <a:t>ombre</a:t>
            </a:r>
            <a:r>
              <a:rPr spc="-107" dirty="0"/>
              <a:t> </a:t>
            </a:r>
            <a:r>
              <a:rPr spc="27" dirty="0"/>
              <a:t>de</a:t>
            </a:r>
            <a:r>
              <a:rPr spc="-100" dirty="0"/>
              <a:t> </a:t>
            </a:r>
            <a:r>
              <a:rPr spc="60" dirty="0"/>
              <a:t>données</a:t>
            </a:r>
            <a:r>
              <a:rPr spc="-107" dirty="0"/>
              <a:t> </a:t>
            </a:r>
            <a:r>
              <a:rPr spc="67" dirty="0"/>
              <a:t>par</a:t>
            </a:r>
            <a:r>
              <a:rPr spc="-100" dirty="0"/>
              <a:t> </a:t>
            </a:r>
            <a:r>
              <a:rPr spc="100" dirty="0"/>
              <a:t>pays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92099" y="5288706"/>
            <a:ext cx="7702127" cy="1231962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2693179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Microsoft Sans Serif"/>
                <a:cs typeface="Microsoft Sans Serif"/>
              </a:rPr>
              <a:t>Constat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-80" dirty="0">
                <a:latin typeface="Microsoft Sans Serif"/>
                <a:cs typeface="Microsoft Sans Serif"/>
              </a:rPr>
              <a:t>: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Inégalité </a:t>
            </a:r>
            <a:r>
              <a:rPr sz="1600" spc="-7" dirty="0">
                <a:latin typeface="Microsoft Sans Serif"/>
                <a:cs typeface="Microsoft Sans Serif"/>
              </a:rPr>
              <a:t>de </a:t>
            </a:r>
            <a:r>
              <a:rPr sz="1600" spc="20" dirty="0">
                <a:latin typeface="Microsoft Sans Serif"/>
                <a:cs typeface="Microsoft Sans Serif"/>
              </a:rPr>
              <a:t>répartition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-13" dirty="0">
                <a:latin typeface="Microsoft Sans Serif"/>
                <a:cs typeface="Microsoft Sans Serif"/>
              </a:rPr>
              <a:t>des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-13" dirty="0">
                <a:latin typeface="Microsoft Sans Serif"/>
                <a:cs typeface="Microsoft Sans Serif"/>
              </a:rPr>
              <a:t>données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7" dirty="0">
                <a:latin typeface="Microsoft Sans Serif"/>
                <a:cs typeface="Microsoft Sans Serif"/>
              </a:rPr>
              <a:t>par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-27" dirty="0">
                <a:latin typeface="Microsoft Sans Serif"/>
                <a:cs typeface="Microsoft Sans Serif"/>
              </a:rPr>
              <a:t>pays. </a:t>
            </a:r>
            <a:r>
              <a:rPr sz="1600" spc="-407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Moins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d’information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spc="13" dirty="0">
                <a:latin typeface="Microsoft Sans Serif"/>
                <a:cs typeface="Microsoft Sans Serif"/>
              </a:rPr>
              <a:t>pour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spc="53" dirty="0">
                <a:latin typeface="Microsoft Sans Serif"/>
                <a:cs typeface="Microsoft Sans Serif"/>
              </a:rPr>
              <a:t>~30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%</a:t>
            </a:r>
            <a:r>
              <a:rPr sz="1600" spc="-13" dirty="0">
                <a:latin typeface="Microsoft Sans Serif"/>
                <a:cs typeface="Microsoft Sans Serif"/>
              </a:rPr>
              <a:t> des </a:t>
            </a:r>
            <a:r>
              <a:rPr sz="1600" spc="-27" dirty="0">
                <a:latin typeface="Microsoft Sans Serif"/>
                <a:cs typeface="Microsoft Sans Serif"/>
              </a:rPr>
              <a:t>zones:</a:t>
            </a:r>
            <a:endParaRPr sz="1600">
              <a:latin typeface="Microsoft Sans Serif"/>
              <a:cs typeface="Microsoft Sans Serif"/>
            </a:endParaRPr>
          </a:p>
          <a:p>
            <a:pPr marL="626518" indent="-427556">
              <a:lnSpc>
                <a:spcPts val="1820"/>
              </a:lnSpc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spc="-27" dirty="0">
                <a:latin typeface="Microsoft Sans Serif"/>
                <a:cs typeface="Microsoft Sans Serif"/>
              </a:rPr>
              <a:t>les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33" dirty="0">
                <a:latin typeface="Microsoft Sans Serif"/>
                <a:cs typeface="Microsoft Sans Serif"/>
              </a:rPr>
              <a:t>“petits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3" dirty="0">
                <a:latin typeface="Microsoft Sans Serif"/>
                <a:cs typeface="Microsoft Sans Serif"/>
              </a:rPr>
              <a:t>pays”;</a:t>
            </a:r>
            <a:endParaRPr sz="1600">
              <a:latin typeface="Microsoft Sans Serif"/>
              <a:cs typeface="Microsoft Sans Serif"/>
            </a:endParaRPr>
          </a:p>
          <a:p>
            <a:pPr marL="626518" indent="-427556">
              <a:lnSpc>
                <a:spcPts val="1900"/>
              </a:lnSpc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spc="-27" dirty="0">
                <a:latin typeface="Microsoft Sans Serif"/>
                <a:cs typeface="Microsoft Sans Serif"/>
              </a:rPr>
              <a:t>les</a:t>
            </a:r>
            <a:r>
              <a:rPr sz="1600" spc="-33" dirty="0">
                <a:latin typeface="Microsoft Sans Serif"/>
                <a:cs typeface="Microsoft Sans Serif"/>
              </a:rPr>
              <a:t> </a:t>
            </a:r>
            <a:r>
              <a:rPr sz="1600" spc="-7" dirty="0">
                <a:latin typeface="Microsoft Sans Serif"/>
                <a:cs typeface="Microsoft Sans Serif"/>
              </a:rPr>
              <a:t>nouveaux</a:t>
            </a:r>
            <a:r>
              <a:rPr sz="1600" spc="-27" dirty="0">
                <a:latin typeface="Microsoft Sans Serif"/>
                <a:cs typeface="Microsoft Sans Serif"/>
              </a:rPr>
              <a:t> </a:t>
            </a:r>
            <a:r>
              <a:rPr sz="1600" spc="-7" dirty="0">
                <a:latin typeface="Microsoft Sans Serif"/>
                <a:cs typeface="Microsoft Sans Serif"/>
              </a:rPr>
              <a:t>pays</a:t>
            </a:r>
            <a:r>
              <a:rPr sz="1600" spc="-27" dirty="0">
                <a:latin typeface="Microsoft Sans Serif"/>
                <a:cs typeface="Microsoft Sans Serif"/>
              </a:rPr>
              <a:t> </a:t>
            </a:r>
            <a:r>
              <a:rPr sz="1600" spc="-33" dirty="0">
                <a:latin typeface="Microsoft Sans Serif"/>
                <a:cs typeface="Microsoft Sans Serif"/>
              </a:rPr>
              <a:t>(Kosovo);</a:t>
            </a:r>
            <a:endParaRPr sz="1600">
              <a:latin typeface="Microsoft Sans Serif"/>
              <a:cs typeface="Microsoft Sans Serif"/>
            </a:endParaRPr>
          </a:p>
          <a:p>
            <a:pPr marL="626518" indent="-427556">
              <a:lnSpc>
                <a:spcPts val="1907"/>
              </a:lnSpc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spc="-27" dirty="0">
                <a:latin typeface="Microsoft Sans Serif"/>
                <a:cs typeface="Microsoft Sans Serif"/>
              </a:rPr>
              <a:t>les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régions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et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groupes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spc="-7" dirty="0">
                <a:latin typeface="Microsoft Sans Serif"/>
                <a:cs typeface="Microsoft Sans Serif"/>
              </a:rPr>
              <a:t>de pays </a:t>
            </a:r>
            <a:r>
              <a:rPr sz="1600" spc="-33" dirty="0">
                <a:latin typeface="Microsoft Sans Serif"/>
                <a:cs typeface="Microsoft Sans Serif"/>
              </a:rPr>
              <a:t>(East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Asia</a:t>
            </a:r>
            <a:r>
              <a:rPr sz="1600" spc="-7" dirty="0">
                <a:latin typeface="Microsoft Sans Serif"/>
                <a:cs typeface="Microsoft Sans Serif"/>
              </a:rPr>
              <a:t> &amp; </a:t>
            </a:r>
            <a:r>
              <a:rPr sz="1600" spc="-20" dirty="0">
                <a:latin typeface="Microsoft Sans Serif"/>
                <a:cs typeface="Microsoft Sans Serif"/>
              </a:rPr>
              <a:t>Pacific,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spc="13" dirty="0">
                <a:latin typeface="Microsoft Sans Serif"/>
                <a:cs typeface="Microsoft Sans Serif"/>
              </a:rPr>
              <a:t>Upper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7" dirty="0">
                <a:latin typeface="Microsoft Sans Serif"/>
                <a:cs typeface="Microsoft Sans Serif"/>
              </a:rPr>
              <a:t>Middle</a:t>
            </a:r>
            <a:r>
              <a:rPr sz="1600" spc="-7" dirty="0">
                <a:latin typeface="Microsoft Sans Serif"/>
                <a:cs typeface="Microsoft Sans Serif"/>
              </a:rPr>
              <a:t> </a:t>
            </a:r>
            <a:r>
              <a:rPr sz="1600" spc="-27" dirty="0">
                <a:latin typeface="Microsoft Sans Serif"/>
                <a:cs typeface="Microsoft Sans Serif"/>
              </a:rPr>
              <a:t>Income,</a:t>
            </a:r>
            <a:r>
              <a:rPr sz="1600" spc="-13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etc.)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2667" y="1419300"/>
            <a:ext cx="9595869" cy="3639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738760" y="4848571"/>
            <a:ext cx="21335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i="0" kern="1200">
                <a:solidFill>
                  <a:srgbClr val="424242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10"/>
              </a:spcBef>
            </a:pPr>
            <a:fld id="{81D60167-4931-47E6-BA6A-407CBD079E47}" type="slidenum">
              <a:rPr lang="fr-FR" spc="35" smtClean="0"/>
              <a:pPr marL="38100">
                <a:spcBef>
                  <a:spcPts val="110"/>
                </a:spcBef>
              </a:pPr>
              <a:t>8</a:t>
            </a:fld>
            <a:endParaRPr spc="47" dirty="0"/>
          </a:p>
        </p:txBody>
      </p:sp>
      <p:pic>
        <p:nvPicPr>
          <p:cNvPr id="7" name="object 14">
            <a:extLst>
              <a:ext uri="{FF2B5EF4-FFF2-40B4-BE49-F238E27FC236}">
                <a16:creationId xmlns:a16="http://schemas.microsoft.com/office/drawing/2014/main" id="{22B96863-110A-40E6-A58D-A272967842E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608C000F-C6DE-42BC-A9BF-26938CF522F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529C214-C241-2513-CE6F-6BAB3D5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On remarque une concentration des données entre 1999 et 2015, on ne prendra pas en compte ainsi le reste des années dans notre analyse. </a:t>
            </a:r>
            <a:endParaRPr lang="en-US" sz="2200" dirty="0"/>
          </a:p>
        </p:txBody>
      </p:sp>
      <p:pic>
        <p:nvPicPr>
          <p:cNvPr id="4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D5CD87A1-A71C-E2D8-D09B-15802762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5" y="1582255"/>
            <a:ext cx="7152517" cy="4317936"/>
          </a:xfrm>
          <a:prstGeom prst="rect">
            <a:avLst/>
          </a:prstGeom>
        </p:spPr>
      </p:pic>
      <p:pic>
        <p:nvPicPr>
          <p:cNvPr id="5" name="object 14">
            <a:extLst>
              <a:ext uri="{FF2B5EF4-FFF2-40B4-BE49-F238E27FC236}">
                <a16:creationId xmlns:a16="http://schemas.microsoft.com/office/drawing/2014/main" id="{AE1F0D55-DAFA-49F2-8785-B8CC8C9DDA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0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845" y="228313"/>
            <a:ext cx="14020800" cy="691642"/>
          </a:xfrm>
          <a:prstGeom prst="rect">
            <a:avLst/>
          </a:prstGeom>
        </p:spPr>
        <p:txBody>
          <a:bodyPr vert="horz" wrap="square" lIns="0" tIns="14393" rIns="0" bIns="0" rtlCol="0" anchor="ctr">
            <a:spAutoFit/>
          </a:bodyPr>
          <a:lstStyle/>
          <a:p>
            <a:pPr marL="1149745" marR="6773">
              <a:lnSpc>
                <a:spcPct val="100400"/>
              </a:lnSpc>
              <a:spcBef>
                <a:spcPts val="113"/>
              </a:spcBef>
            </a:pPr>
            <a:r>
              <a:rPr spc="-107" dirty="0"/>
              <a:t> </a:t>
            </a:r>
            <a:r>
              <a:rPr spc="20" dirty="0"/>
              <a:t>Sélection</a:t>
            </a:r>
            <a:r>
              <a:rPr spc="-100" dirty="0"/>
              <a:t> </a:t>
            </a:r>
            <a:r>
              <a:rPr spc="80" dirty="0"/>
              <a:t>des</a:t>
            </a:r>
            <a:r>
              <a:rPr spc="-107" dirty="0"/>
              <a:t> </a:t>
            </a:r>
            <a:r>
              <a:rPr spc="33" dirty="0"/>
              <a:t>indicateurs</a:t>
            </a:r>
            <a:r>
              <a:rPr spc="-100" dirty="0"/>
              <a:t> </a:t>
            </a:r>
            <a:r>
              <a:rPr spc="360" dirty="0"/>
              <a:t>- </a:t>
            </a:r>
            <a:r>
              <a:rPr spc="-1107" dirty="0"/>
              <a:t> </a:t>
            </a:r>
            <a:r>
              <a:rPr spc="100" dirty="0"/>
              <a:t>Brainstorming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37593" y="2082354"/>
            <a:ext cx="3863340" cy="3863340"/>
            <a:chOff x="4828194" y="1561765"/>
            <a:chExt cx="2897505" cy="2897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8194" y="1561765"/>
              <a:ext cx="2897400" cy="2897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56784" y="1739569"/>
              <a:ext cx="2440305" cy="2440305"/>
            </a:xfrm>
            <a:custGeom>
              <a:avLst/>
              <a:gdLst/>
              <a:ahLst/>
              <a:cxnLst/>
              <a:rect l="l" t="t" r="r" b="b"/>
              <a:pathLst>
                <a:path w="2440304" h="2440304">
                  <a:moveTo>
                    <a:pt x="2440203" y="1220101"/>
                  </a:moveTo>
                  <a:lnTo>
                    <a:pt x="2439136" y="1169123"/>
                  </a:lnTo>
                  <a:lnTo>
                    <a:pt x="2435961" y="1118438"/>
                  </a:lnTo>
                  <a:lnTo>
                    <a:pt x="2430703" y="1068082"/>
                  </a:lnTo>
                  <a:lnTo>
                    <a:pt x="2423376" y="1018133"/>
                  </a:lnTo>
                  <a:lnTo>
                    <a:pt x="2414016" y="968629"/>
                  </a:lnTo>
                  <a:lnTo>
                    <a:pt x="2402636" y="919657"/>
                  </a:lnTo>
                  <a:lnTo>
                    <a:pt x="2389276" y="871258"/>
                  </a:lnTo>
                  <a:lnTo>
                    <a:pt x="2373947" y="823506"/>
                  </a:lnTo>
                  <a:lnTo>
                    <a:pt x="2356675" y="776439"/>
                  </a:lnTo>
                  <a:lnTo>
                    <a:pt x="2337498" y="730135"/>
                  </a:lnTo>
                  <a:lnTo>
                    <a:pt x="2316429" y="684657"/>
                  </a:lnTo>
                  <a:lnTo>
                    <a:pt x="2293505" y="640041"/>
                  </a:lnTo>
                  <a:lnTo>
                    <a:pt x="2268728" y="596366"/>
                  </a:lnTo>
                  <a:lnTo>
                    <a:pt x="2242134" y="553694"/>
                  </a:lnTo>
                  <a:lnTo>
                    <a:pt x="2213762" y="512076"/>
                  </a:lnTo>
                  <a:lnTo>
                    <a:pt x="2183612" y="471576"/>
                  </a:lnTo>
                  <a:lnTo>
                    <a:pt x="2151735" y="432244"/>
                  </a:lnTo>
                  <a:lnTo>
                    <a:pt x="2118131" y="394157"/>
                  </a:lnTo>
                  <a:lnTo>
                    <a:pt x="2082838" y="357365"/>
                  </a:lnTo>
                  <a:lnTo>
                    <a:pt x="2046046" y="322072"/>
                  </a:lnTo>
                  <a:lnTo>
                    <a:pt x="2007958" y="288467"/>
                  </a:lnTo>
                  <a:lnTo>
                    <a:pt x="1968627" y="256590"/>
                  </a:lnTo>
                  <a:lnTo>
                    <a:pt x="1928126" y="226441"/>
                  </a:lnTo>
                  <a:lnTo>
                    <a:pt x="1886508" y="198069"/>
                  </a:lnTo>
                  <a:lnTo>
                    <a:pt x="1843836" y="171475"/>
                  </a:lnTo>
                  <a:lnTo>
                    <a:pt x="1800161" y="146710"/>
                  </a:lnTo>
                  <a:lnTo>
                    <a:pt x="1755559" y="123774"/>
                  </a:lnTo>
                  <a:lnTo>
                    <a:pt x="1710067" y="102704"/>
                  </a:lnTo>
                  <a:lnTo>
                    <a:pt x="1663763" y="83527"/>
                  </a:lnTo>
                  <a:lnTo>
                    <a:pt x="1616710" y="66255"/>
                  </a:lnTo>
                  <a:lnTo>
                    <a:pt x="1568945" y="50927"/>
                  </a:lnTo>
                  <a:lnTo>
                    <a:pt x="1520545" y="37566"/>
                  </a:lnTo>
                  <a:lnTo>
                    <a:pt x="1471574" y="26187"/>
                  </a:lnTo>
                  <a:lnTo>
                    <a:pt x="1422082" y="16827"/>
                  </a:lnTo>
                  <a:lnTo>
                    <a:pt x="1372120" y="9499"/>
                  </a:lnTo>
                  <a:lnTo>
                    <a:pt x="1321765" y="4241"/>
                  </a:lnTo>
                  <a:lnTo>
                    <a:pt x="1271079" y="1066"/>
                  </a:lnTo>
                  <a:lnTo>
                    <a:pt x="1220101" y="0"/>
                  </a:lnTo>
                  <a:lnTo>
                    <a:pt x="1172197" y="927"/>
                  </a:lnTo>
                  <a:lnTo>
                    <a:pt x="1124750" y="3670"/>
                  </a:lnTo>
                  <a:lnTo>
                    <a:pt x="1077810" y="8216"/>
                  </a:lnTo>
                  <a:lnTo>
                    <a:pt x="1031405" y="14503"/>
                  </a:lnTo>
                  <a:lnTo>
                    <a:pt x="985570" y="22517"/>
                  </a:lnTo>
                  <a:lnTo>
                    <a:pt x="940346" y="32219"/>
                  </a:lnTo>
                  <a:lnTo>
                    <a:pt x="895756" y="43586"/>
                  </a:lnTo>
                  <a:lnTo>
                    <a:pt x="851827" y="56565"/>
                  </a:lnTo>
                  <a:lnTo>
                    <a:pt x="808609" y="71132"/>
                  </a:lnTo>
                  <a:lnTo>
                    <a:pt x="766140" y="87249"/>
                  </a:lnTo>
                  <a:lnTo>
                    <a:pt x="724433" y="104889"/>
                  </a:lnTo>
                  <a:lnTo>
                    <a:pt x="683539" y="124015"/>
                  </a:lnTo>
                  <a:lnTo>
                    <a:pt x="643483" y="144589"/>
                  </a:lnTo>
                  <a:lnTo>
                    <a:pt x="604291" y="166585"/>
                  </a:lnTo>
                  <a:lnTo>
                    <a:pt x="566026" y="189953"/>
                  </a:lnTo>
                  <a:lnTo>
                    <a:pt x="528688" y="214680"/>
                  </a:lnTo>
                  <a:lnTo>
                    <a:pt x="492340" y="240728"/>
                  </a:lnTo>
                  <a:lnTo>
                    <a:pt x="456996" y="268046"/>
                  </a:lnTo>
                  <a:lnTo>
                    <a:pt x="422694" y="296608"/>
                  </a:lnTo>
                  <a:lnTo>
                    <a:pt x="389470" y="326402"/>
                  </a:lnTo>
                  <a:lnTo>
                    <a:pt x="357365" y="357365"/>
                  </a:lnTo>
                  <a:lnTo>
                    <a:pt x="326402" y="389470"/>
                  </a:lnTo>
                  <a:lnTo>
                    <a:pt x="296621" y="422694"/>
                  </a:lnTo>
                  <a:lnTo>
                    <a:pt x="268046" y="456996"/>
                  </a:lnTo>
                  <a:lnTo>
                    <a:pt x="240728" y="492340"/>
                  </a:lnTo>
                  <a:lnTo>
                    <a:pt x="214680" y="528688"/>
                  </a:lnTo>
                  <a:lnTo>
                    <a:pt x="189953" y="566026"/>
                  </a:lnTo>
                  <a:lnTo>
                    <a:pt x="166585" y="604291"/>
                  </a:lnTo>
                  <a:lnTo>
                    <a:pt x="144589" y="643470"/>
                  </a:lnTo>
                  <a:lnTo>
                    <a:pt x="124015" y="683539"/>
                  </a:lnTo>
                  <a:lnTo>
                    <a:pt x="104889" y="724433"/>
                  </a:lnTo>
                  <a:lnTo>
                    <a:pt x="87249" y="766140"/>
                  </a:lnTo>
                  <a:lnTo>
                    <a:pt x="71132" y="808609"/>
                  </a:lnTo>
                  <a:lnTo>
                    <a:pt x="56565" y="851827"/>
                  </a:lnTo>
                  <a:lnTo>
                    <a:pt x="43586" y="895756"/>
                  </a:lnTo>
                  <a:lnTo>
                    <a:pt x="32232" y="940346"/>
                  </a:lnTo>
                  <a:lnTo>
                    <a:pt x="22517" y="985570"/>
                  </a:lnTo>
                  <a:lnTo>
                    <a:pt x="14503" y="1031405"/>
                  </a:lnTo>
                  <a:lnTo>
                    <a:pt x="8216" y="1077810"/>
                  </a:lnTo>
                  <a:lnTo>
                    <a:pt x="3670" y="1124750"/>
                  </a:lnTo>
                  <a:lnTo>
                    <a:pt x="927" y="1172197"/>
                  </a:lnTo>
                  <a:lnTo>
                    <a:pt x="0" y="1220101"/>
                  </a:lnTo>
                  <a:lnTo>
                    <a:pt x="927" y="1268006"/>
                  </a:lnTo>
                  <a:lnTo>
                    <a:pt x="3670" y="1315453"/>
                  </a:lnTo>
                  <a:lnTo>
                    <a:pt x="8216" y="1362392"/>
                  </a:lnTo>
                  <a:lnTo>
                    <a:pt x="14503" y="1408798"/>
                  </a:lnTo>
                  <a:lnTo>
                    <a:pt x="22517" y="1454632"/>
                  </a:lnTo>
                  <a:lnTo>
                    <a:pt x="32232" y="1499857"/>
                  </a:lnTo>
                  <a:lnTo>
                    <a:pt x="43586" y="1544447"/>
                  </a:lnTo>
                  <a:lnTo>
                    <a:pt x="56565" y="1588376"/>
                  </a:lnTo>
                  <a:lnTo>
                    <a:pt x="71132" y="1631594"/>
                  </a:lnTo>
                  <a:lnTo>
                    <a:pt x="87249" y="1674063"/>
                  </a:lnTo>
                  <a:lnTo>
                    <a:pt x="104889" y="1715770"/>
                  </a:lnTo>
                  <a:lnTo>
                    <a:pt x="124015" y="1756676"/>
                  </a:lnTo>
                  <a:lnTo>
                    <a:pt x="144589" y="1796732"/>
                  </a:lnTo>
                  <a:lnTo>
                    <a:pt x="166585" y="1835912"/>
                  </a:lnTo>
                  <a:lnTo>
                    <a:pt x="189953" y="1874177"/>
                  </a:lnTo>
                  <a:lnTo>
                    <a:pt x="214680" y="1911515"/>
                  </a:lnTo>
                  <a:lnTo>
                    <a:pt x="240728" y="1947862"/>
                  </a:lnTo>
                  <a:lnTo>
                    <a:pt x="268046" y="1983206"/>
                  </a:lnTo>
                  <a:lnTo>
                    <a:pt x="296621" y="2017509"/>
                  </a:lnTo>
                  <a:lnTo>
                    <a:pt x="326402" y="2050732"/>
                  </a:lnTo>
                  <a:lnTo>
                    <a:pt x="357365" y="2082838"/>
                  </a:lnTo>
                  <a:lnTo>
                    <a:pt x="389470" y="2113800"/>
                  </a:lnTo>
                  <a:lnTo>
                    <a:pt x="422694" y="2143595"/>
                  </a:lnTo>
                  <a:lnTo>
                    <a:pt x="456996" y="2172157"/>
                  </a:lnTo>
                  <a:lnTo>
                    <a:pt x="492340" y="2199487"/>
                  </a:lnTo>
                  <a:lnTo>
                    <a:pt x="528688" y="2225522"/>
                  </a:lnTo>
                  <a:lnTo>
                    <a:pt x="566026" y="2250249"/>
                  </a:lnTo>
                  <a:lnTo>
                    <a:pt x="604291" y="2273617"/>
                  </a:lnTo>
                  <a:lnTo>
                    <a:pt x="643483" y="2295614"/>
                  </a:lnTo>
                  <a:lnTo>
                    <a:pt x="683539" y="2316188"/>
                  </a:lnTo>
                  <a:lnTo>
                    <a:pt x="724433" y="2335314"/>
                  </a:lnTo>
                  <a:lnTo>
                    <a:pt x="766140" y="2352954"/>
                  </a:lnTo>
                  <a:lnTo>
                    <a:pt x="808609" y="2369070"/>
                  </a:lnTo>
                  <a:lnTo>
                    <a:pt x="851827" y="2383637"/>
                  </a:lnTo>
                  <a:lnTo>
                    <a:pt x="895756" y="2396617"/>
                  </a:lnTo>
                  <a:lnTo>
                    <a:pt x="940346" y="2407983"/>
                  </a:lnTo>
                  <a:lnTo>
                    <a:pt x="985570" y="2417686"/>
                  </a:lnTo>
                  <a:lnTo>
                    <a:pt x="1031405" y="2425700"/>
                  </a:lnTo>
                  <a:lnTo>
                    <a:pt x="1077810" y="2431999"/>
                  </a:lnTo>
                  <a:lnTo>
                    <a:pt x="1124750" y="2436533"/>
                  </a:lnTo>
                  <a:lnTo>
                    <a:pt x="1172197" y="2439276"/>
                  </a:lnTo>
                  <a:lnTo>
                    <a:pt x="1220101" y="2440203"/>
                  </a:lnTo>
                  <a:lnTo>
                    <a:pt x="1268006" y="2439276"/>
                  </a:lnTo>
                  <a:lnTo>
                    <a:pt x="1315453" y="2436533"/>
                  </a:lnTo>
                  <a:lnTo>
                    <a:pt x="1362392" y="2431999"/>
                  </a:lnTo>
                  <a:lnTo>
                    <a:pt x="1408798" y="2425700"/>
                  </a:lnTo>
                  <a:lnTo>
                    <a:pt x="1454632" y="2417686"/>
                  </a:lnTo>
                  <a:lnTo>
                    <a:pt x="1499857" y="2407983"/>
                  </a:lnTo>
                  <a:lnTo>
                    <a:pt x="1544459" y="2396617"/>
                  </a:lnTo>
                  <a:lnTo>
                    <a:pt x="1588376" y="2383637"/>
                  </a:lnTo>
                  <a:lnTo>
                    <a:pt x="1631594" y="2369070"/>
                  </a:lnTo>
                  <a:lnTo>
                    <a:pt x="1674075" y="2352954"/>
                  </a:lnTo>
                  <a:lnTo>
                    <a:pt x="1715770" y="2335314"/>
                  </a:lnTo>
                  <a:lnTo>
                    <a:pt x="1756676" y="2316188"/>
                  </a:lnTo>
                  <a:lnTo>
                    <a:pt x="1796732" y="2295614"/>
                  </a:lnTo>
                  <a:lnTo>
                    <a:pt x="1835912" y="2273617"/>
                  </a:lnTo>
                  <a:lnTo>
                    <a:pt x="1874189" y="2250249"/>
                  </a:lnTo>
                  <a:lnTo>
                    <a:pt x="1911515" y="2225522"/>
                  </a:lnTo>
                  <a:lnTo>
                    <a:pt x="1947875" y="2199487"/>
                  </a:lnTo>
                  <a:lnTo>
                    <a:pt x="1983219" y="2172157"/>
                  </a:lnTo>
                  <a:lnTo>
                    <a:pt x="2017509" y="2143595"/>
                  </a:lnTo>
                  <a:lnTo>
                    <a:pt x="2050732" y="2113800"/>
                  </a:lnTo>
                  <a:lnTo>
                    <a:pt x="2082838" y="2082838"/>
                  </a:lnTo>
                  <a:lnTo>
                    <a:pt x="2113813" y="2050732"/>
                  </a:lnTo>
                  <a:lnTo>
                    <a:pt x="2143595" y="2017509"/>
                  </a:lnTo>
                  <a:lnTo>
                    <a:pt x="2172157" y="1983206"/>
                  </a:lnTo>
                  <a:lnTo>
                    <a:pt x="2199487" y="1947862"/>
                  </a:lnTo>
                  <a:lnTo>
                    <a:pt x="2225522" y="1911515"/>
                  </a:lnTo>
                  <a:lnTo>
                    <a:pt x="2250249" y="1874177"/>
                  </a:lnTo>
                  <a:lnTo>
                    <a:pt x="2273617" y="1835912"/>
                  </a:lnTo>
                  <a:lnTo>
                    <a:pt x="2295614" y="1796732"/>
                  </a:lnTo>
                  <a:lnTo>
                    <a:pt x="2316188" y="1756676"/>
                  </a:lnTo>
                  <a:lnTo>
                    <a:pt x="2335314" y="1715770"/>
                  </a:lnTo>
                  <a:lnTo>
                    <a:pt x="2352954" y="1674063"/>
                  </a:lnTo>
                  <a:lnTo>
                    <a:pt x="2369070" y="1631594"/>
                  </a:lnTo>
                  <a:lnTo>
                    <a:pt x="2383637" y="1588376"/>
                  </a:lnTo>
                  <a:lnTo>
                    <a:pt x="2396617" y="1544447"/>
                  </a:lnTo>
                  <a:lnTo>
                    <a:pt x="2407983" y="1499857"/>
                  </a:lnTo>
                  <a:lnTo>
                    <a:pt x="2417686" y="1454632"/>
                  </a:lnTo>
                  <a:lnTo>
                    <a:pt x="2425700" y="1408798"/>
                  </a:lnTo>
                  <a:lnTo>
                    <a:pt x="2431999" y="1362392"/>
                  </a:lnTo>
                  <a:lnTo>
                    <a:pt x="2436533" y="1315453"/>
                  </a:lnTo>
                  <a:lnTo>
                    <a:pt x="2439276" y="1268006"/>
                  </a:lnTo>
                  <a:lnTo>
                    <a:pt x="2440203" y="1220101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54722" y="3746673"/>
            <a:ext cx="2024380" cy="51552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536773" marR="6773" indent="-520687">
              <a:lnSpc>
                <a:spcPts val="1893"/>
              </a:lnSpc>
              <a:spcBef>
                <a:spcPts val="220"/>
              </a:spcBef>
            </a:pPr>
            <a:r>
              <a:rPr sz="1600" spc="-13" dirty="0">
                <a:solidFill>
                  <a:srgbClr val="FFFFFF"/>
                </a:solidFill>
                <a:latin typeface="Roboto"/>
                <a:cs typeface="Roboto"/>
              </a:rPr>
              <a:t>Nombre </a:t>
            </a:r>
            <a:r>
              <a:rPr sz="1600" spc="-33" dirty="0">
                <a:solidFill>
                  <a:srgbClr val="FFFFFF"/>
                </a:solidFill>
                <a:latin typeface="Roboto"/>
                <a:cs typeface="Roboto"/>
              </a:rPr>
              <a:t>d’étudiants </a:t>
            </a:r>
            <a:r>
              <a:rPr sz="1600" spc="-13" dirty="0">
                <a:solidFill>
                  <a:srgbClr val="FFFFFF"/>
                </a:solidFill>
                <a:latin typeface="Roboto"/>
                <a:cs typeface="Roboto"/>
              </a:rPr>
              <a:t>et </a:t>
            </a:r>
            <a:r>
              <a:rPr sz="1600" spc="-3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Roboto"/>
                <a:cs typeface="Roboto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lycéens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83116" y="1182238"/>
            <a:ext cx="2508673" cy="2508673"/>
            <a:chOff x="4787336" y="886678"/>
            <a:chExt cx="1881505" cy="18815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7336" y="886678"/>
              <a:ext cx="1881000" cy="1881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015928" y="1064488"/>
              <a:ext cx="1424305" cy="1424305"/>
            </a:xfrm>
            <a:custGeom>
              <a:avLst/>
              <a:gdLst/>
              <a:ahLst/>
              <a:cxnLst/>
              <a:rect l="l" t="t" r="r" b="b"/>
              <a:pathLst>
                <a:path w="1424304" h="1424305">
                  <a:moveTo>
                    <a:pt x="1423797" y="711898"/>
                  </a:moveTo>
                  <a:lnTo>
                    <a:pt x="1421955" y="660628"/>
                  </a:lnTo>
                  <a:lnTo>
                    <a:pt x="1416456" y="609917"/>
                  </a:lnTo>
                  <a:lnTo>
                    <a:pt x="1407401" y="559955"/>
                  </a:lnTo>
                  <a:lnTo>
                    <a:pt x="1394841" y="510908"/>
                  </a:lnTo>
                  <a:lnTo>
                    <a:pt x="1378864" y="462965"/>
                  </a:lnTo>
                  <a:lnTo>
                    <a:pt x="1359535" y="416306"/>
                  </a:lnTo>
                  <a:lnTo>
                    <a:pt x="1336929" y="371106"/>
                  </a:lnTo>
                  <a:lnTo>
                    <a:pt x="1311135" y="327545"/>
                  </a:lnTo>
                  <a:lnTo>
                    <a:pt x="1282217" y="285800"/>
                  </a:lnTo>
                  <a:lnTo>
                    <a:pt x="1250238" y="246062"/>
                  </a:lnTo>
                  <a:lnTo>
                    <a:pt x="1215288" y="208508"/>
                  </a:lnTo>
                  <a:lnTo>
                    <a:pt x="1177734" y="173558"/>
                  </a:lnTo>
                  <a:lnTo>
                    <a:pt x="1137996" y="141579"/>
                  </a:lnTo>
                  <a:lnTo>
                    <a:pt x="1096251" y="112661"/>
                  </a:lnTo>
                  <a:lnTo>
                    <a:pt x="1052690" y="86868"/>
                  </a:lnTo>
                  <a:lnTo>
                    <a:pt x="1007491" y="64262"/>
                  </a:lnTo>
                  <a:lnTo>
                    <a:pt x="960831" y="44932"/>
                  </a:lnTo>
                  <a:lnTo>
                    <a:pt x="912888" y="28956"/>
                  </a:lnTo>
                  <a:lnTo>
                    <a:pt x="863841" y="16395"/>
                  </a:lnTo>
                  <a:lnTo>
                    <a:pt x="813879" y="7340"/>
                  </a:lnTo>
                  <a:lnTo>
                    <a:pt x="763168" y="1841"/>
                  </a:lnTo>
                  <a:lnTo>
                    <a:pt x="711898" y="0"/>
                  </a:lnTo>
                  <a:lnTo>
                    <a:pt x="663155" y="1638"/>
                  </a:lnTo>
                  <a:lnTo>
                    <a:pt x="615302" y="6489"/>
                  </a:lnTo>
                  <a:lnTo>
                    <a:pt x="568426" y="14465"/>
                  </a:lnTo>
                  <a:lnTo>
                    <a:pt x="522655" y="25425"/>
                  </a:lnTo>
                  <a:lnTo>
                    <a:pt x="478066" y="39293"/>
                  </a:lnTo>
                  <a:lnTo>
                    <a:pt x="434797" y="55943"/>
                  </a:lnTo>
                  <a:lnTo>
                    <a:pt x="392938" y="75272"/>
                  </a:lnTo>
                  <a:lnTo>
                    <a:pt x="352590" y="97193"/>
                  </a:lnTo>
                  <a:lnTo>
                    <a:pt x="313867" y="121577"/>
                  </a:lnTo>
                  <a:lnTo>
                    <a:pt x="276885" y="148323"/>
                  </a:lnTo>
                  <a:lnTo>
                    <a:pt x="241731" y="177342"/>
                  </a:lnTo>
                  <a:lnTo>
                    <a:pt x="208508" y="208508"/>
                  </a:lnTo>
                  <a:lnTo>
                    <a:pt x="177342" y="241719"/>
                  </a:lnTo>
                  <a:lnTo>
                    <a:pt x="148336" y="276872"/>
                  </a:lnTo>
                  <a:lnTo>
                    <a:pt x="121577" y="313867"/>
                  </a:lnTo>
                  <a:lnTo>
                    <a:pt x="97193" y="352590"/>
                  </a:lnTo>
                  <a:lnTo>
                    <a:pt x="75285" y="392925"/>
                  </a:lnTo>
                  <a:lnTo>
                    <a:pt x="55943" y="434797"/>
                  </a:lnTo>
                  <a:lnTo>
                    <a:pt x="39293" y="478066"/>
                  </a:lnTo>
                  <a:lnTo>
                    <a:pt x="25425" y="522643"/>
                  </a:lnTo>
                  <a:lnTo>
                    <a:pt x="14465" y="568426"/>
                  </a:lnTo>
                  <a:lnTo>
                    <a:pt x="6502" y="615289"/>
                  </a:lnTo>
                  <a:lnTo>
                    <a:pt x="1638" y="663155"/>
                  </a:lnTo>
                  <a:lnTo>
                    <a:pt x="0" y="711898"/>
                  </a:lnTo>
                  <a:lnTo>
                    <a:pt x="1638" y="760641"/>
                  </a:lnTo>
                  <a:lnTo>
                    <a:pt x="6502" y="808494"/>
                  </a:lnTo>
                  <a:lnTo>
                    <a:pt x="14465" y="855370"/>
                  </a:lnTo>
                  <a:lnTo>
                    <a:pt x="25425" y="901141"/>
                  </a:lnTo>
                  <a:lnTo>
                    <a:pt x="39293" y="945730"/>
                  </a:lnTo>
                  <a:lnTo>
                    <a:pt x="55943" y="988999"/>
                  </a:lnTo>
                  <a:lnTo>
                    <a:pt x="75285" y="1030859"/>
                  </a:lnTo>
                  <a:lnTo>
                    <a:pt x="97193" y="1071206"/>
                  </a:lnTo>
                  <a:lnTo>
                    <a:pt x="121577" y="1109929"/>
                  </a:lnTo>
                  <a:lnTo>
                    <a:pt x="148336" y="1146911"/>
                  </a:lnTo>
                  <a:lnTo>
                    <a:pt x="177342" y="1182077"/>
                  </a:lnTo>
                  <a:lnTo>
                    <a:pt x="208508" y="1215288"/>
                  </a:lnTo>
                  <a:lnTo>
                    <a:pt x="241731" y="1246454"/>
                  </a:lnTo>
                  <a:lnTo>
                    <a:pt x="276885" y="1275461"/>
                  </a:lnTo>
                  <a:lnTo>
                    <a:pt x="313867" y="1302219"/>
                  </a:lnTo>
                  <a:lnTo>
                    <a:pt x="352590" y="1326603"/>
                  </a:lnTo>
                  <a:lnTo>
                    <a:pt x="392938" y="1348511"/>
                  </a:lnTo>
                  <a:lnTo>
                    <a:pt x="434797" y="1367853"/>
                  </a:lnTo>
                  <a:lnTo>
                    <a:pt x="478066" y="1384503"/>
                  </a:lnTo>
                  <a:lnTo>
                    <a:pt x="522655" y="1398371"/>
                  </a:lnTo>
                  <a:lnTo>
                    <a:pt x="568426" y="1409331"/>
                  </a:lnTo>
                  <a:lnTo>
                    <a:pt x="615302" y="1417294"/>
                  </a:lnTo>
                  <a:lnTo>
                    <a:pt x="663155" y="1422158"/>
                  </a:lnTo>
                  <a:lnTo>
                    <a:pt x="711898" y="1423797"/>
                  </a:lnTo>
                  <a:lnTo>
                    <a:pt x="760641" y="1422158"/>
                  </a:lnTo>
                  <a:lnTo>
                    <a:pt x="808507" y="1417294"/>
                  </a:lnTo>
                  <a:lnTo>
                    <a:pt x="855370" y="1409331"/>
                  </a:lnTo>
                  <a:lnTo>
                    <a:pt x="901153" y="1398371"/>
                  </a:lnTo>
                  <a:lnTo>
                    <a:pt x="945730" y="1384503"/>
                  </a:lnTo>
                  <a:lnTo>
                    <a:pt x="988999" y="1367853"/>
                  </a:lnTo>
                  <a:lnTo>
                    <a:pt x="1030871" y="1348511"/>
                  </a:lnTo>
                  <a:lnTo>
                    <a:pt x="1071206" y="1326603"/>
                  </a:lnTo>
                  <a:lnTo>
                    <a:pt x="1109929" y="1302219"/>
                  </a:lnTo>
                  <a:lnTo>
                    <a:pt x="1146924" y="1275461"/>
                  </a:lnTo>
                  <a:lnTo>
                    <a:pt x="1182077" y="1246454"/>
                  </a:lnTo>
                  <a:lnTo>
                    <a:pt x="1215288" y="1215288"/>
                  </a:lnTo>
                  <a:lnTo>
                    <a:pt x="1246454" y="1182077"/>
                  </a:lnTo>
                  <a:lnTo>
                    <a:pt x="1275473" y="1146911"/>
                  </a:lnTo>
                  <a:lnTo>
                    <a:pt x="1302219" y="1109929"/>
                  </a:lnTo>
                  <a:lnTo>
                    <a:pt x="1326603" y="1071206"/>
                  </a:lnTo>
                  <a:lnTo>
                    <a:pt x="1348524" y="1030859"/>
                  </a:lnTo>
                  <a:lnTo>
                    <a:pt x="1367853" y="988999"/>
                  </a:lnTo>
                  <a:lnTo>
                    <a:pt x="1384503" y="945730"/>
                  </a:lnTo>
                  <a:lnTo>
                    <a:pt x="1398371" y="901141"/>
                  </a:lnTo>
                  <a:lnTo>
                    <a:pt x="1409344" y="855370"/>
                  </a:lnTo>
                  <a:lnTo>
                    <a:pt x="1417307" y="808494"/>
                  </a:lnTo>
                  <a:lnTo>
                    <a:pt x="1422158" y="760641"/>
                  </a:lnTo>
                  <a:lnTo>
                    <a:pt x="1423797" y="711898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01245" y="1836798"/>
            <a:ext cx="1071033" cy="10427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1333" spc="-40" dirty="0">
                <a:solidFill>
                  <a:srgbClr val="FFFFFF"/>
                </a:solidFill>
                <a:latin typeface="Roboto"/>
                <a:cs typeface="Roboto"/>
              </a:rPr>
              <a:t>Taux </a:t>
            </a:r>
            <a:r>
              <a:rPr sz="1333" spc="-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FFFFFF"/>
                </a:solidFill>
                <a:latin typeface="Roboto"/>
                <a:cs typeface="Roboto"/>
              </a:rPr>
              <a:t>d’adoption </a:t>
            </a:r>
            <a:r>
              <a:rPr sz="1333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FFFFFF"/>
                </a:solidFill>
                <a:latin typeface="Roboto"/>
                <a:cs typeface="Roboto"/>
              </a:rPr>
              <a:t>d’internet </a:t>
            </a:r>
            <a:r>
              <a:rPr sz="1333" spc="-13" dirty="0">
                <a:solidFill>
                  <a:srgbClr val="FFFFFF"/>
                </a:solidFill>
                <a:latin typeface="Roboto"/>
                <a:cs typeface="Roboto"/>
              </a:rPr>
              <a:t>et </a:t>
            </a:r>
            <a:r>
              <a:rPr sz="1333" spc="-7" dirty="0">
                <a:solidFill>
                  <a:srgbClr val="FFFFFF"/>
                </a:solidFill>
                <a:latin typeface="Roboto"/>
                <a:cs typeface="Roboto"/>
              </a:rPr>
              <a:t> de </a:t>
            </a:r>
            <a:r>
              <a:rPr sz="13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33" spc="-20" dirty="0">
                <a:solidFill>
                  <a:srgbClr val="FFFFFF"/>
                </a:solidFill>
                <a:latin typeface="Roboto"/>
                <a:cs typeface="Roboto"/>
              </a:rPr>
              <a:t>l’informatique</a:t>
            </a:r>
            <a:endParaRPr sz="1333" dirty="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93212" y="3083688"/>
            <a:ext cx="1775910" cy="1764883"/>
          </a:xfrm>
          <a:custGeom>
            <a:avLst/>
            <a:gdLst/>
            <a:ahLst/>
            <a:cxnLst/>
            <a:rect l="l" t="t" r="r" b="b"/>
            <a:pathLst>
              <a:path w="1053464" h="1074420">
                <a:moveTo>
                  <a:pt x="526824" y="1074332"/>
                </a:moveTo>
                <a:lnTo>
                  <a:pt x="479735" y="1073767"/>
                </a:lnTo>
                <a:lnTo>
                  <a:pt x="432209" y="1068804"/>
                </a:lnTo>
                <a:lnTo>
                  <a:pt x="385453" y="1059494"/>
                </a:lnTo>
                <a:lnTo>
                  <a:pt x="340632" y="1046144"/>
                </a:lnTo>
                <a:lnTo>
                  <a:pt x="297895" y="1028969"/>
                </a:lnTo>
                <a:lnTo>
                  <a:pt x="257391" y="1008184"/>
                </a:lnTo>
                <a:lnTo>
                  <a:pt x="219271" y="984005"/>
                </a:lnTo>
                <a:lnTo>
                  <a:pt x="183683" y="956646"/>
                </a:lnTo>
                <a:lnTo>
                  <a:pt x="150777" y="926324"/>
                </a:lnTo>
                <a:lnTo>
                  <a:pt x="120703" y="893253"/>
                </a:lnTo>
                <a:lnTo>
                  <a:pt x="93611" y="857649"/>
                </a:lnTo>
                <a:lnTo>
                  <a:pt x="69649" y="819727"/>
                </a:lnTo>
                <a:lnTo>
                  <a:pt x="48967" y="779703"/>
                </a:lnTo>
                <a:lnTo>
                  <a:pt x="31716" y="737792"/>
                </a:lnTo>
                <a:lnTo>
                  <a:pt x="18044" y="694209"/>
                </a:lnTo>
                <a:lnTo>
                  <a:pt x="8101" y="649170"/>
                </a:lnTo>
                <a:lnTo>
                  <a:pt x="2036" y="602890"/>
                </a:lnTo>
                <a:lnTo>
                  <a:pt x="0" y="555585"/>
                </a:lnTo>
                <a:lnTo>
                  <a:pt x="2141" y="507470"/>
                </a:lnTo>
                <a:lnTo>
                  <a:pt x="8609" y="458759"/>
                </a:lnTo>
                <a:lnTo>
                  <a:pt x="19310" y="410690"/>
                </a:lnTo>
                <a:lnTo>
                  <a:pt x="33907" y="364460"/>
                </a:lnTo>
                <a:lnTo>
                  <a:pt x="52183" y="320230"/>
                </a:lnTo>
                <a:lnTo>
                  <a:pt x="73922" y="278159"/>
                </a:lnTo>
                <a:lnTo>
                  <a:pt x="98907" y="238408"/>
                </a:lnTo>
                <a:lnTo>
                  <a:pt x="126924" y="201136"/>
                </a:lnTo>
                <a:lnTo>
                  <a:pt x="157755" y="166504"/>
                </a:lnTo>
                <a:lnTo>
                  <a:pt x="191184" y="134672"/>
                </a:lnTo>
                <a:lnTo>
                  <a:pt x="226996" y="105799"/>
                </a:lnTo>
                <a:lnTo>
                  <a:pt x="264974" y="80046"/>
                </a:lnTo>
                <a:lnTo>
                  <a:pt x="304902" y="57573"/>
                </a:lnTo>
                <a:lnTo>
                  <a:pt x="346564" y="38539"/>
                </a:lnTo>
                <a:lnTo>
                  <a:pt x="389744" y="23104"/>
                </a:lnTo>
                <a:lnTo>
                  <a:pt x="434225" y="11430"/>
                </a:lnTo>
                <a:lnTo>
                  <a:pt x="479792" y="3675"/>
                </a:lnTo>
                <a:lnTo>
                  <a:pt x="526228" y="0"/>
                </a:lnTo>
                <a:lnTo>
                  <a:pt x="573318" y="564"/>
                </a:lnTo>
                <a:lnTo>
                  <a:pt x="620844" y="5528"/>
                </a:lnTo>
                <a:lnTo>
                  <a:pt x="671572" y="15879"/>
                </a:lnTo>
                <a:lnTo>
                  <a:pt x="720528" y="31205"/>
                </a:lnTo>
                <a:lnTo>
                  <a:pt x="767396" y="51311"/>
                </a:lnTo>
                <a:lnTo>
                  <a:pt x="811863" y="76001"/>
                </a:lnTo>
                <a:lnTo>
                  <a:pt x="853615" y="105079"/>
                </a:lnTo>
                <a:lnTo>
                  <a:pt x="892339" y="138349"/>
                </a:lnTo>
                <a:lnTo>
                  <a:pt x="927719" y="175615"/>
                </a:lnTo>
                <a:lnTo>
                  <a:pt x="959442" y="216683"/>
                </a:lnTo>
                <a:lnTo>
                  <a:pt x="986929" y="260886"/>
                </a:lnTo>
                <a:lnTo>
                  <a:pt x="1009755" y="307446"/>
                </a:lnTo>
                <a:lnTo>
                  <a:pt x="1027843" y="355992"/>
                </a:lnTo>
                <a:lnTo>
                  <a:pt x="1041114" y="406155"/>
                </a:lnTo>
                <a:lnTo>
                  <a:pt x="1049488" y="457564"/>
                </a:lnTo>
                <a:lnTo>
                  <a:pt x="1052887" y="509850"/>
                </a:lnTo>
                <a:lnTo>
                  <a:pt x="1051232" y="562643"/>
                </a:lnTo>
                <a:lnTo>
                  <a:pt x="1044444" y="615572"/>
                </a:lnTo>
                <a:lnTo>
                  <a:pt x="1033742" y="663641"/>
                </a:lnTo>
                <a:lnTo>
                  <a:pt x="1019146" y="709871"/>
                </a:lnTo>
                <a:lnTo>
                  <a:pt x="1000870" y="754102"/>
                </a:lnTo>
                <a:lnTo>
                  <a:pt x="979131" y="796172"/>
                </a:lnTo>
                <a:lnTo>
                  <a:pt x="954145" y="835923"/>
                </a:lnTo>
                <a:lnTo>
                  <a:pt x="926129" y="873195"/>
                </a:lnTo>
                <a:lnTo>
                  <a:pt x="895298" y="907827"/>
                </a:lnTo>
                <a:lnTo>
                  <a:pt x="861868" y="939659"/>
                </a:lnTo>
                <a:lnTo>
                  <a:pt x="826056" y="968532"/>
                </a:lnTo>
                <a:lnTo>
                  <a:pt x="788078" y="994285"/>
                </a:lnTo>
                <a:lnTo>
                  <a:pt x="748150" y="1016759"/>
                </a:lnTo>
                <a:lnTo>
                  <a:pt x="706489" y="1035793"/>
                </a:lnTo>
                <a:lnTo>
                  <a:pt x="663309" y="1051227"/>
                </a:lnTo>
                <a:lnTo>
                  <a:pt x="618827" y="1062901"/>
                </a:lnTo>
                <a:lnTo>
                  <a:pt x="573261" y="1070656"/>
                </a:lnTo>
                <a:lnTo>
                  <a:pt x="526824" y="107433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 rot="480000">
            <a:off x="5770259" y="3646500"/>
            <a:ext cx="716464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sz="1333" spc="-13" dirty="0">
                <a:solidFill>
                  <a:srgbClr val="FFFFFF"/>
                </a:solidFill>
                <a:latin typeface="Arial MT"/>
                <a:cs typeface="Arial MT"/>
              </a:rPr>
              <a:t>Évolution</a:t>
            </a:r>
            <a:endParaRPr sz="1333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 rot="480000">
            <a:off x="5470496" y="3834254"/>
            <a:ext cx="1166091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sz="1333" spc="-13" dirty="0" err="1">
                <a:solidFill>
                  <a:srgbClr val="FFFFFF"/>
                </a:solidFill>
                <a:latin typeface="Arial MT"/>
                <a:cs typeface="Arial MT"/>
              </a:rPr>
              <a:t>démogra</a:t>
            </a:r>
            <a:r>
              <a:rPr lang="fr-FR" sz="1333" spc="-13" dirty="0" err="1">
                <a:solidFill>
                  <a:srgbClr val="FFFFFF"/>
                </a:solidFill>
                <a:latin typeface="Arial MT"/>
                <a:cs typeface="Arial MT"/>
              </a:rPr>
              <a:t>phique</a:t>
            </a:r>
            <a:endParaRPr sz="1333" dirty="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54636" y="2070469"/>
            <a:ext cx="2881207" cy="4472432"/>
            <a:chOff x="1391186" y="1547650"/>
            <a:chExt cx="2160905" cy="3354324"/>
          </a:xfrm>
        </p:grpSpPr>
        <p:sp>
          <p:nvSpPr>
            <p:cNvPr id="16" name="object 16"/>
            <p:cNvSpPr/>
            <p:nvPr/>
          </p:nvSpPr>
          <p:spPr>
            <a:xfrm>
              <a:off x="1488131" y="1547650"/>
              <a:ext cx="542290" cy="521334"/>
            </a:xfrm>
            <a:custGeom>
              <a:avLst/>
              <a:gdLst/>
              <a:ahLst/>
              <a:cxnLst/>
              <a:rect l="l" t="t" r="r" b="b"/>
              <a:pathLst>
                <a:path w="542289" h="521335">
                  <a:moveTo>
                    <a:pt x="268764" y="521110"/>
                  </a:moveTo>
                  <a:lnTo>
                    <a:pt x="222230" y="516876"/>
                  </a:lnTo>
                  <a:lnTo>
                    <a:pt x="177538" y="505153"/>
                  </a:lnTo>
                  <a:lnTo>
                    <a:pt x="135672" y="486382"/>
                  </a:lnTo>
                  <a:lnTo>
                    <a:pt x="97610" y="461001"/>
                  </a:lnTo>
                  <a:lnTo>
                    <a:pt x="64335" y="429451"/>
                  </a:lnTo>
                  <a:lnTo>
                    <a:pt x="36828" y="392173"/>
                  </a:lnTo>
                  <a:lnTo>
                    <a:pt x="16069" y="349605"/>
                  </a:lnTo>
                  <a:lnTo>
                    <a:pt x="2847" y="299897"/>
                  </a:lnTo>
                  <a:lnTo>
                    <a:pt x="0" y="249146"/>
                  </a:lnTo>
                  <a:lnTo>
                    <a:pt x="7458" y="198829"/>
                  </a:lnTo>
                  <a:lnTo>
                    <a:pt x="25154" y="150424"/>
                  </a:lnTo>
                  <a:lnTo>
                    <a:pt x="52378" y="106290"/>
                  </a:lnTo>
                  <a:lnTo>
                    <a:pt x="87704" y="68469"/>
                  </a:lnTo>
                  <a:lnTo>
                    <a:pt x="129998" y="37958"/>
                  </a:lnTo>
                  <a:lnTo>
                    <a:pt x="178126" y="15757"/>
                  </a:lnTo>
                  <a:lnTo>
                    <a:pt x="225404" y="3694"/>
                  </a:lnTo>
                  <a:lnTo>
                    <a:pt x="272800" y="0"/>
                  </a:lnTo>
                  <a:lnTo>
                    <a:pt x="319335" y="4234"/>
                  </a:lnTo>
                  <a:lnTo>
                    <a:pt x="364026" y="15956"/>
                  </a:lnTo>
                  <a:lnTo>
                    <a:pt x="405893" y="34728"/>
                  </a:lnTo>
                  <a:lnTo>
                    <a:pt x="443954" y="60109"/>
                  </a:lnTo>
                  <a:lnTo>
                    <a:pt x="477229" y="91658"/>
                  </a:lnTo>
                  <a:lnTo>
                    <a:pt x="504737" y="128937"/>
                  </a:lnTo>
                  <a:lnTo>
                    <a:pt x="525496" y="171505"/>
                  </a:lnTo>
                  <a:lnTo>
                    <a:pt x="538047" y="216943"/>
                  </a:lnTo>
                  <a:lnTo>
                    <a:pt x="541891" y="262494"/>
                  </a:lnTo>
                  <a:lnTo>
                    <a:pt x="537485" y="307217"/>
                  </a:lnTo>
                  <a:lnTo>
                    <a:pt x="525288" y="350169"/>
                  </a:lnTo>
                  <a:lnTo>
                    <a:pt x="505756" y="390406"/>
                  </a:lnTo>
                  <a:lnTo>
                    <a:pt x="479347" y="426986"/>
                  </a:lnTo>
                  <a:lnTo>
                    <a:pt x="446520" y="458965"/>
                  </a:lnTo>
                  <a:lnTo>
                    <a:pt x="407731" y="485402"/>
                  </a:lnTo>
                  <a:lnTo>
                    <a:pt x="363439" y="505353"/>
                  </a:lnTo>
                  <a:lnTo>
                    <a:pt x="316161" y="517416"/>
                  </a:lnTo>
                  <a:lnTo>
                    <a:pt x="268764" y="52111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1186" y="2826869"/>
              <a:ext cx="2160905" cy="2075105"/>
            </a:xfrm>
            <a:custGeom>
              <a:avLst/>
              <a:gdLst/>
              <a:ahLst/>
              <a:cxnLst/>
              <a:rect l="l" t="t" r="r" b="b"/>
              <a:pathLst>
                <a:path w="2160904" h="2101850">
                  <a:moveTo>
                    <a:pt x="1091060" y="2101558"/>
                  </a:moveTo>
                  <a:lnTo>
                    <a:pt x="1044141" y="2099773"/>
                  </a:lnTo>
                  <a:lnTo>
                    <a:pt x="997610" y="2096036"/>
                  </a:lnTo>
                  <a:lnTo>
                    <a:pt x="951517" y="2090382"/>
                  </a:lnTo>
                  <a:lnTo>
                    <a:pt x="905912" y="2082851"/>
                  </a:lnTo>
                  <a:lnTo>
                    <a:pt x="860844" y="2073480"/>
                  </a:lnTo>
                  <a:lnTo>
                    <a:pt x="816364" y="2062305"/>
                  </a:lnTo>
                  <a:lnTo>
                    <a:pt x="772520" y="2049365"/>
                  </a:lnTo>
                  <a:lnTo>
                    <a:pt x="729363" y="2034698"/>
                  </a:lnTo>
                  <a:lnTo>
                    <a:pt x="686941" y="2018341"/>
                  </a:lnTo>
                  <a:lnTo>
                    <a:pt x="645306" y="2000331"/>
                  </a:lnTo>
                  <a:lnTo>
                    <a:pt x="604506" y="1980706"/>
                  </a:lnTo>
                  <a:lnTo>
                    <a:pt x="564592" y="1959504"/>
                  </a:lnTo>
                  <a:lnTo>
                    <a:pt x="525612" y="1936762"/>
                  </a:lnTo>
                  <a:lnTo>
                    <a:pt x="487617" y="1912519"/>
                  </a:lnTo>
                  <a:lnTo>
                    <a:pt x="450657" y="1886810"/>
                  </a:lnTo>
                  <a:lnTo>
                    <a:pt x="414780" y="1859675"/>
                  </a:lnTo>
                  <a:lnTo>
                    <a:pt x="380037" y="1831150"/>
                  </a:lnTo>
                  <a:lnTo>
                    <a:pt x="346478" y="1801274"/>
                  </a:lnTo>
                  <a:lnTo>
                    <a:pt x="314152" y="1770083"/>
                  </a:lnTo>
                  <a:lnTo>
                    <a:pt x="283108" y="1737616"/>
                  </a:lnTo>
                  <a:lnTo>
                    <a:pt x="253397" y="1703910"/>
                  </a:lnTo>
                  <a:lnTo>
                    <a:pt x="225000" y="1668910"/>
                  </a:lnTo>
                  <a:lnTo>
                    <a:pt x="198172" y="1632931"/>
                  </a:lnTo>
                  <a:lnTo>
                    <a:pt x="172756" y="1595733"/>
                  </a:lnTo>
                  <a:lnTo>
                    <a:pt x="148872" y="1557447"/>
                  </a:lnTo>
                  <a:lnTo>
                    <a:pt x="126569" y="1518109"/>
                  </a:lnTo>
                  <a:lnTo>
                    <a:pt x="105897" y="1477759"/>
                  </a:lnTo>
                  <a:lnTo>
                    <a:pt x="86905" y="1436432"/>
                  </a:lnTo>
                  <a:lnTo>
                    <a:pt x="69643" y="1394167"/>
                  </a:lnTo>
                  <a:lnTo>
                    <a:pt x="54161" y="1351001"/>
                  </a:lnTo>
                  <a:lnTo>
                    <a:pt x="40509" y="1306972"/>
                  </a:lnTo>
                  <a:lnTo>
                    <a:pt x="28735" y="1262118"/>
                  </a:lnTo>
                  <a:lnTo>
                    <a:pt x="18891" y="1216475"/>
                  </a:lnTo>
                  <a:lnTo>
                    <a:pt x="11025" y="1170082"/>
                  </a:lnTo>
                  <a:lnTo>
                    <a:pt x="5113" y="1122166"/>
                  </a:lnTo>
                  <a:lnTo>
                    <a:pt x="1451" y="1074559"/>
                  </a:lnTo>
                  <a:lnTo>
                    <a:pt x="0" y="1027312"/>
                  </a:lnTo>
                  <a:lnTo>
                    <a:pt x="717" y="980478"/>
                  </a:lnTo>
                  <a:lnTo>
                    <a:pt x="3564" y="934107"/>
                  </a:lnTo>
                  <a:lnTo>
                    <a:pt x="8500" y="888250"/>
                  </a:lnTo>
                  <a:lnTo>
                    <a:pt x="15484" y="842960"/>
                  </a:lnTo>
                  <a:lnTo>
                    <a:pt x="24475" y="798287"/>
                  </a:lnTo>
                  <a:lnTo>
                    <a:pt x="35434" y="754283"/>
                  </a:lnTo>
                  <a:lnTo>
                    <a:pt x="48320" y="710999"/>
                  </a:lnTo>
                  <a:lnTo>
                    <a:pt x="63093" y="668487"/>
                  </a:lnTo>
                  <a:lnTo>
                    <a:pt x="79711" y="626797"/>
                  </a:lnTo>
                  <a:lnTo>
                    <a:pt x="98136" y="585982"/>
                  </a:lnTo>
                  <a:lnTo>
                    <a:pt x="118325" y="546092"/>
                  </a:lnTo>
                  <a:lnTo>
                    <a:pt x="140239" y="507178"/>
                  </a:lnTo>
                  <a:lnTo>
                    <a:pt x="163838" y="469293"/>
                  </a:lnTo>
                  <a:lnTo>
                    <a:pt x="189080" y="432488"/>
                  </a:lnTo>
                  <a:lnTo>
                    <a:pt x="215926" y="396813"/>
                  </a:lnTo>
                  <a:lnTo>
                    <a:pt x="244335" y="362321"/>
                  </a:lnTo>
                  <a:lnTo>
                    <a:pt x="274267" y="329062"/>
                  </a:lnTo>
                  <a:lnTo>
                    <a:pt x="305680" y="297088"/>
                  </a:lnTo>
                  <a:lnTo>
                    <a:pt x="338536" y="266451"/>
                  </a:lnTo>
                  <a:lnTo>
                    <a:pt x="372793" y="237200"/>
                  </a:lnTo>
                  <a:lnTo>
                    <a:pt x="408410" y="209389"/>
                  </a:lnTo>
                  <a:lnTo>
                    <a:pt x="445349" y="183068"/>
                  </a:lnTo>
                  <a:lnTo>
                    <a:pt x="483567" y="158289"/>
                  </a:lnTo>
                  <a:lnTo>
                    <a:pt x="523025" y="135103"/>
                  </a:lnTo>
                  <a:lnTo>
                    <a:pt x="563682" y="113561"/>
                  </a:lnTo>
                  <a:lnTo>
                    <a:pt x="605497" y="93715"/>
                  </a:lnTo>
                  <a:lnTo>
                    <a:pt x="648431" y="75615"/>
                  </a:lnTo>
                  <a:lnTo>
                    <a:pt x="692443" y="59314"/>
                  </a:lnTo>
                  <a:lnTo>
                    <a:pt x="737492" y="44863"/>
                  </a:lnTo>
                  <a:lnTo>
                    <a:pt x="783539" y="32313"/>
                  </a:lnTo>
                  <a:lnTo>
                    <a:pt x="830541" y="21715"/>
                  </a:lnTo>
                  <a:lnTo>
                    <a:pt x="878460" y="13121"/>
                  </a:lnTo>
                  <a:lnTo>
                    <a:pt x="927255" y="6582"/>
                  </a:lnTo>
                  <a:lnTo>
                    <a:pt x="977341" y="2146"/>
                  </a:lnTo>
                  <a:lnTo>
                    <a:pt x="1027444" y="0"/>
                  </a:lnTo>
                  <a:lnTo>
                    <a:pt x="1077486" y="121"/>
                  </a:lnTo>
                  <a:lnTo>
                    <a:pt x="1127390" y="2489"/>
                  </a:lnTo>
                  <a:lnTo>
                    <a:pt x="1177078" y="7083"/>
                  </a:lnTo>
                  <a:lnTo>
                    <a:pt x="1226473" y="13880"/>
                  </a:lnTo>
                  <a:lnTo>
                    <a:pt x="1275497" y="22860"/>
                  </a:lnTo>
                  <a:lnTo>
                    <a:pt x="1324073" y="34000"/>
                  </a:lnTo>
                  <a:lnTo>
                    <a:pt x="1372124" y="47280"/>
                  </a:lnTo>
                  <a:lnTo>
                    <a:pt x="1419572" y="62679"/>
                  </a:lnTo>
                  <a:lnTo>
                    <a:pt x="1466339" y="80174"/>
                  </a:lnTo>
                  <a:lnTo>
                    <a:pt x="1512349" y="99744"/>
                  </a:lnTo>
                  <a:lnTo>
                    <a:pt x="1557524" y="121369"/>
                  </a:lnTo>
                  <a:lnTo>
                    <a:pt x="1601787" y="145026"/>
                  </a:lnTo>
                  <a:lnTo>
                    <a:pt x="1645059" y="170695"/>
                  </a:lnTo>
                  <a:lnTo>
                    <a:pt x="1687265" y="198353"/>
                  </a:lnTo>
                  <a:lnTo>
                    <a:pt x="1728325" y="227980"/>
                  </a:lnTo>
                  <a:lnTo>
                    <a:pt x="1767975" y="259398"/>
                  </a:lnTo>
                  <a:lnTo>
                    <a:pt x="1805971" y="292401"/>
                  </a:lnTo>
                  <a:lnTo>
                    <a:pt x="1842274" y="326919"/>
                  </a:lnTo>
                  <a:lnTo>
                    <a:pt x="1876843" y="362886"/>
                  </a:lnTo>
                  <a:lnTo>
                    <a:pt x="1909637" y="400234"/>
                  </a:lnTo>
                  <a:lnTo>
                    <a:pt x="1940615" y="438893"/>
                  </a:lnTo>
                  <a:lnTo>
                    <a:pt x="1969736" y="478797"/>
                  </a:lnTo>
                  <a:lnTo>
                    <a:pt x="1996961" y="519877"/>
                  </a:lnTo>
                  <a:lnTo>
                    <a:pt x="2022247" y="562065"/>
                  </a:lnTo>
                  <a:lnTo>
                    <a:pt x="2045554" y="605294"/>
                  </a:lnTo>
                  <a:lnTo>
                    <a:pt x="2066842" y="649495"/>
                  </a:lnTo>
                  <a:lnTo>
                    <a:pt x="2086070" y="694601"/>
                  </a:lnTo>
                  <a:lnTo>
                    <a:pt x="2103197" y="740543"/>
                  </a:lnTo>
                  <a:lnTo>
                    <a:pt x="2118182" y="787253"/>
                  </a:lnTo>
                  <a:lnTo>
                    <a:pt x="2130985" y="834664"/>
                  </a:lnTo>
                  <a:lnTo>
                    <a:pt x="2141564" y="882708"/>
                  </a:lnTo>
                  <a:lnTo>
                    <a:pt x="2149880" y="931316"/>
                  </a:lnTo>
                  <a:lnTo>
                    <a:pt x="2155792" y="979232"/>
                  </a:lnTo>
                  <a:lnTo>
                    <a:pt x="2159454" y="1026840"/>
                  </a:lnTo>
                  <a:lnTo>
                    <a:pt x="2160905" y="1074086"/>
                  </a:lnTo>
                  <a:lnTo>
                    <a:pt x="2160187" y="1120921"/>
                  </a:lnTo>
                  <a:lnTo>
                    <a:pt x="2157340" y="1167292"/>
                  </a:lnTo>
                  <a:lnTo>
                    <a:pt x="2152405" y="1213148"/>
                  </a:lnTo>
                  <a:lnTo>
                    <a:pt x="2145421" y="1258438"/>
                  </a:lnTo>
                  <a:lnTo>
                    <a:pt x="2136429" y="1303111"/>
                  </a:lnTo>
                  <a:lnTo>
                    <a:pt x="2125470" y="1347115"/>
                  </a:lnTo>
                  <a:lnTo>
                    <a:pt x="2112584" y="1390399"/>
                  </a:lnTo>
                  <a:lnTo>
                    <a:pt x="2097812" y="1432911"/>
                  </a:lnTo>
                  <a:lnTo>
                    <a:pt x="2081193" y="1474601"/>
                  </a:lnTo>
                  <a:lnTo>
                    <a:pt x="2062769" y="1515417"/>
                  </a:lnTo>
                  <a:lnTo>
                    <a:pt x="2042580" y="1555307"/>
                  </a:lnTo>
                  <a:lnTo>
                    <a:pt x="2020666" y="1594220"/>
                  </a:lnTo>
                  <a:lnTo>
                    <a:pt x="1997067" y="1632105"/>
                  </a:lnTo>
                  <a:lnTo>
                    <a:pt x="1971755" y="1669002"/>
                  </a:lnTo>
                  <a:lnTo>
                    <a:pt x="1944979" y="1704585"/>
                  </a:lnTo>
                  <a:lnTo>
                    <a:pt x="1916570" y="1739077"/>
                  </a:lnTo>
                  <a:lnTo>
                    <a:pt x="1886638" y="1772336"/>
                  </a:lnTo>
                  <a:lnTo>
                    <a:pt x="1855224" y="1804310"/>
                  </a:lnTo>
                  <a:lnTo>
                    <a:pt x="1822369" y="1834947"/>
                  </a:lnTo>
                  <a:lnTo>
                    <a:pt x="1788112" y="1864198"/>
                  </a:lnTo>
                  <a:lnTo>
                    <a:pt x="1752494" y="1892009"/>
                  </a:lnTo>
                  <a:lnTo>
                    <a:pt x="1715556" y="1918330"/>
                  </a:lnTo>
                  <a:lnTo>
                    <a:pt x="1677338" y="1943109"/>
                  </a:lnTo>
                  <a:lnTo>
                    <a:pt x="1637880" y="1966295"/>
                  </a:lnTo>
                  <a:lnTo>
                    <a:pt x="1597223" y="1987837"/>
                  </a:lnTo>
                  <a:lnTo>
                    <a:pt x="1555407" y="2007683"/>
                  </a:lnTo>
                  <a:lnTo>
                    <a:pt x="1512473" y="2025783"/>
                  </a:lnTo>
                  <a:lnTo>
                    <a:pt x="1468462" y="2042084"/>
                  </a:lnTo>
                  <a:lnTo>
                    <a:pt x="1423412" y="2056535"/>
                  </a:lnTo>
                  <a:lnTo>
                    <a:pt x="1377366" y="2069085"/>
                  </a:lnTo>
                  <a:lnTo>
                    <a:pt x="1330363" y="2079683"/>
                  </a:lnTo>
                  <a:lnTo>
                    <a:pt x="1282444" y="2088277"/>
                  </a:lnTo>
                  <a:lnTo>
                    <a:pt x="1233650" y="2094816"/>
                  </a:lnTo>
                  <a:lnTo>
                    <a:pt x="1185864" y="2099117"/>
                  </a:lnTo>
                  <a:lnTo>
                    <a:pt x="1138317" y="2101352"/>
                  </a:lnTo>
                  <a:lnTo>
                    <a:pt x="1091060" y="2101558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18" name="object 18"/>
          <p:cNvSpPr txBox="1"/>
          <p:nvPr/>
        </p:nvSpPr>
        <p:spPr>
          <a:xfrm rot="21240000">
            <a:off x="2527216" y="4832885"/>
            <a:ext cx="14679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Investissements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 rot="21240000">
            <a:off x="2556426" y="5071554"/>
            <a:ext cx="148306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spc="-7" dirty="0">
                <a:solidFill>
                  <a:srgbClr val="FFFFFF"/>
                </a:solidFill>
                <a:latin typeface="Arial MT"/>
                <a:cs typeface="Arial MT"/>
              </a:rPr>
              <a:t>dans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l’éducation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 rot="21240000">
            <a:off x="2530208" y="5310414"/>
            <a:ext cx="160643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spc="-7" dirty="0">
                <a:solidFill>
                  <a:srgbClr val="FFFFFF"/>
                </a:solidFill>
                <a:latin typeface="Arial MT"/>
                <a:cs typeface="Arial MT"/>
              </a:rPr>
              <a:t>(publics</a:t>
            </a: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" baseline="2314" dirty="0">
                <a:solidFill>
                  <a:srgbClr val="FFFFFF"/>
                </a:solidFill>
                <a:latin typeface="Arial MT"/>
                <a:cs typeface="Arial MT"/>
              </a:rPr>
              <a:t>et</a:t>
            </a:r>
            <a:r>
              <a:rPr sz="2400" spc="-20" baseline="2314" dirty="0">
                <a:solidFill>
                  <a:srgbClr val="FFFFFF"/>
                </a:solidFill>
                <a:latin typeface="Arial MT"/>
                <a:cs typeface="Arial MT"/>
              </a:rPr>
              <a:t> privés)</a:t>
            </a:r>
            <a:endParaRPr sz="2400" baseline="2314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41264" y="2645435"/>
            <a:ext cx="1708573" cy="1642533"/>
          </a:xfrm>
          <a:custGeom>
            <a:avLst/>
            <a:gdLst/>
            <a:ahLst/>
            <a:cxnLst/>
            <a:rect l="l" t="t" r="r" b="b"/>
            <a:pathLst>
              <a:path w="1281430" h="1231900">
                <a:moveTo>
                  <a:pt x="631385" y="1231365"/>
                </a:moveTo>
                <a:lnTo>
                  <a:pt x="585739" y="1229165"/>
                </a:lnTo>
                <a:lnTo>
                  <a:pt x="540679" y="1223869"/>
                </a:lnTo>
                <a:lnTo>
                  <a:pt x="496360" y="1215557"/>
                </a:lnTo>
                <a:lnTo>
                  <a:pt x="452934" y="1204312"/>
                </a:lnTo>
                <a:lnTo>
                  <a:pt x="410556" y="1190215"/>
                </a:lnTo>
                <a:lnTo>
                  <a:pt x="369377" y="1173348"/>
                </a:lnTo>
                <a:lnTo>
                  <a:pt x="329551" y="1153793"/>
                </a:lnTo>
                <a:lnTo>
                  <a:pt x="291232" y="1131632"/>
                </a:lnTo>
                <a:lnTo>
                  <a:pt x="254572" y="1106946"/>
                </a:lnTo>
                <a:lnTo>
                  <a:pt x="219725" y="1079818"/>
                </a:lnTo>
                <a:lnTo>
                  <a:pt x="186844" y="1050328"/>
                </a:lnTo>
                <a:lnTo>
                  <a:pt x="156082" y="1018559"/>
                </a:lnTo>
                <a:lnTo>
                  <a:pt x="127592" y="984593"/>
                </a:lnTo>
                <a:lnTo>
                  <a:pt x="101527" y="948511"/>
                </a:lnTo>
                <a:lnTo>
                  <a:pt x="78041" y="910395"/>
                </a:lnTo>
                <a:lnTo>
                  <a:pt x="57287" y="870327"/>
                </a:lnTo>
                <a:lnTo>
                  <a:pt x="39417" y="828389"/>
                </a:lnTo>
                <a:lnTo>
                  <a:pt x="24586" y="784662"/>
                </a:lnTo>
                <a:lnTo>
                  <a:pt x="12679" y="737878"/>
                </a:lnTo>
                <a:lnTo>
                  <a:pt x="4677" y="691075"/>
                </a:lnTo>
                <a:lnTo>
                  <a:pt x="483" y="644423"/>
                </a:lnTo>
                <a:lnTo>
                  <a:pt x="0" y="598090"/>
                </a:lnTo>
                <a:lnTo>
                  <a:pt x="3128" y="552245"/>
                </a:lnTo>
                <a:lnTo>
                  <a:pt x="9771" y="507058"/>
                </a:lnTo>
                <a:lnTo>
                  <a:pt x="19830" y="462699"/>
                </a:lnTo>
                <a:lnTo>
                  <a:pt x="33208" y="419336"/>
                </a:lnTo>
                <a:lnTo>
                  <a:pt x="49807" y="377138"/>
                </a:lnTo>
                <a:lnTo>
                  <a:pt x="69529" y="336276"/>
                </a:lnTo>
                <a:lnTo>
                  <a:pt x="92276" y="296917"/>
                </a:lnTo>
                <a:lnTo>
                  <a:pt x="117950" y="259233"/>
                </a:lnTo>
                <a:lnTo>
                  <a:pt x="146454" y="223391"/>
                </a:lnTo>
                <a:lnTo>
                  <a:pt x="177690" y="189560"/>
                </a:lnTo>
                <a:lnTo>
                  <a:pt x="211560" y="157912"/>
                </a:lnTo>
                <a:lnTo>
                  <a:pt x="247966" y="128613"/>
                </a:lnTo>
                <a:lnTo>
                  <a:pt x="286810" y="101835"/>
                </a:lnTo>
                <a:lnTo>
                  <a:pt x="327994" y="77745"/>
                </a:lnTo>
                <a:lnTo>
                  <a:pt x="371422" y="56514"/>
                </a:lnTo>
                <a:lnTo>
                  <a:pt x="416994" y="38311"/>
                </a:lnTo>
                <a:lnTo>
                  <a:pt x="464613" y="23304"/>
                </a:lnTo>
                <a:lnTo>
                  <a:pt x="513951" y="11762"/>
                </a:lnTo>
                <a:lnTo>
                  <a:pt x="563769" y="4047"/>
                </a:lnTo>
                <a:lnTo>
                  <a:pt x="613836" y="135"/>
                </a:lnTo>
                <a:lnTo>
                  <a:pt x="663921" y="0"/>
                </a:lnTo>
                <a:lnTo>
                  <a:pt x="713792" y="3615"/>
                </a:lnTo>
                <a:lnTo>
                  <a:pt x="763218" y="10957"/>
                </a:lnTo>
                <a:lnTo>
                  <a:pt x="811967" y="21999"/>
                </a:lnTo>
                <a:lnTo>
                  <a:pt x="859809" y="36715"/>
                </a:lnTo>
                <a:lnTo>
                  <a:pt x="906511" y="55081"/>
                </a:lnTo>
                <a:lnTo>
                  <a:pt x="951843" y="77070"/>
                </a:lnTo>
                <a:lnTo>
                  <a:pt x="995223" y="102438"/>
                </a:lnTo>
                <a:lnTo>
                  <a:pt x="1036125" y="130839"/>
                </a:lnTo>
                <a:lnTo>
                  <a:pt x="1074407" y="162097"/>
                </a:lnTo>
                <a:lnTo>
                  <a:pt x="1109922" y="196038"/>
                </a:lnTo>
                <a:lnTo>
                  <a:pt x="1142525" y="232486"/>
                </a:lnTo>
                <a:lnTo>
                  <a:pt x="1172073" y="271266"/>
                </a:lnTo>
                <a:lnTo>
                  <a:pt x="1198420" y="312203"/>
                </a:lnTo>
                <a:lnTo>
                  <a:pt x="1221421" y="355121"/>
                </a:lnTo>
                <a:lnTo>
                  <a:pt x="1240933" y="399846"/>
                </a:lnTo>
                <a:lnTo>
                  <a:pt x="1256809" y="446202"/>
                </a:lnTo>
                <a:lnTo>
                  <a:pt x="1268716" y="492985"/>
                </a:lnTo>
                <a:lnTo>
                  <a:pt x="1276717" y="539788"/>
                </a:lnTo>
                <a:lnTo>
                  <a:pt x="1280911" y="586441"/>
                </a:lnTo>
                <a:lnTo>
                  <a:pt x="1281395" y="632774"/>
                </a:lnTo>
                <a:lnTo>
                  <a:pt x="1278267" y="678618"/>
                </a:lnTo>
                <a:lnTo>
                  <a:pt x="1271624" y="723805"/>
                </a:lnTo>
                <a:lnTo>
                  <a:pt x="1261565" y="768165"/>
                </a:lnTo>
                <a:lnTo>
                  <a:pt x="1248187" y="811528"/>
                </a:lnTo>
                <a:lnTo>
                  <a:pt x="1231588" y="853725"/>
                </a:lnTo>
                <a:lnTo>
                  <a:pt x="1211866" y="894588"/>
                </a:lnTo>
                <a:lnTo>
                  <a:pt x="1189119" y="933946"/>
                </a:lnTo>
                <a:lnTo>
                  <a:pt x="1163444" y="971631"/>
                </a:lnTo>
                <a:lnTo>
                  <a:pt x="1134940" y="1007473"/>
                </a:lnTo>
                <a:lnTo>
                  <a:pt x="1103704" y="1041303"/>
                </a:lnTo>
                <a:lnTo>
                  <a:pt x="1069834" y="1072952"/>
                </a:lnTo>
                <a:lnTo>
                  <a:pt x="1033429" y="1102250"/>
                </a:lnTo>
                <a:lnTo>
                  <a:pt x="994584" y="1129029"/>
                </a:lnTo>
                <a:lnTo>
                  <a:pt x="953400" y="1153118"/>
                </a:lnTo>
                <a:lnTo>
                  <a:pt x="909973" y="1174349"/>
                </a:lnTo>
                <a:lnTo>
                  <a:pt x="864401" y="1192553"/>
                </a:lnTo>
                <a:lnTo>
                  <a:pt x="816782" y="1207559"/>
                </a:lnTo>
                <a:lnTo>
                  <a:pt x="770318" y="1218565"/>
                </a:lnTo>
                <a:lnTo>
                  <a:pt x="723828" y="1226147"/>
                </a:lnTo>
                <a:lnTo>
                  <a:pt x="677466" y="1230386"/>
                </a:lnTo>
                <a:lnTo>
                  <a:pt x="631385" y="123136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 rot="20700000">
            <a:off x="2993153" y="3061138"/>
            <a:ext cx="49181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lang="fr-FR" sz="1333" spc="-13" dirty="0">
                <a:solidFill>
                  <a:srgbClr val="FFFFFF"/>
                </a:solidFill>
                <a:latin typeface="Arial MT"/>
                <a:cs typeface="Arial MT"/>
              </a:rPr>
              <a:t>GDP</a:t>
            </a:r>
            <a:r>
              <a:rPr sz="1333" spc="-13" dirty="0">
                <a:solidFill>
                  <a:srgbClr val="FFFFFF"/>
                </a:solidFill>
                <a:latin typeface="Arial MT"/>
                <a:cs typeface="Arial MT"/>
              </a:rPr>
              <a:t> et</a:t>
            </a:r>
            <a:endParaRPr sz="1333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 rot="20700000">
            <a:off x="2832492" y="3339212"/>
            <a:ext cx="930101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sz="1333" spc="-13" dirty="0">
                <a:solidFill>
                  <a:srgbClr val="FFFFFF"/>
                </a:solidFill>
                <a:latin typeface="Arial MT"/>
                <a:cs typeface="Arial MT"/>
              </a:rPr>
              <a:t>évolutio</a:t>
            </a:r>
            <a:r>
              <a:rPr sz="1333" spc="-7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333" spc="-1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baseline="2777" dirty="0">
                <a:solidFill>
                  <a:srgbClr val="FFFFFF"/>
                </a:solidFill>
                <a:latin typeface="Arial MT"/>
                <a:cs typeface="Arial MT"/>
              </a:rPr>
              <a:t>du</a:t>
            </a:r>
            <a:endParaRPr sz="2000" baseline="2777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3126178" y="3542966"/>
            <a:ext cx="39185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lang="fr-FR" sz="1333" spc="-13" dirty="0">
                <a:solidFill>
                  <a:srgbClr val="FFFFFF"/>
                </a:solidFill>
                <a:latin typeface="Arial MT"/>
                <a:cs typeface="Arial MT"/>
              </a:rPr>
              <a:t>GDP</a:t>
            </a:r>
            <a:endParaRPr sz="1333" dirty="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41089" y="1601115"/>
            <a:ext cx="2947247" cy="5087620"/>
            <a:chOff x="2655816" y="1200836"/>
            <a:chExt cx="2210435" cy="3815715"/>
          </a:xfrm>
        </p:grpSpPr>
        <p:sp>
          <p:nvSpPr>
            <p:cNvPr id="26" name="object 26"/>
            <p:cNvSpPr/>
            <p:nvPr/>
          </p:nvSpPr>
          <p:spPr>
            <a:xfrm>
              <a:off x="2655816" y="1200836"/>
              <a:ext cx="337185" cy="323850"/>
            </a:xfrm>
            <a:custGeom>
              <a:avLst/>
              <a:gdLst/>
              <a:ahLst/>
              <a:cxnLst/>
              <a:rect l="l" t="t" r="r" b="b"/>
              <a:pathLst>
                <a:path w="337185" h="323850">
                  <a:moveTo>
                    <a:pt x="181900" y="323295"/>
                  </a:moveTo>
                  <a:lnTo>
                    <a:pt x="138220" y="321155"/>
                  </a:lnTo>
                  <a:lnTo>
                    <a:pt x="97127" y="308530"/>
                  </a:lnTo>
                  <a:lnTo>
                    <a:pt x="60681" y="286345"/>
                  </a:lnTo>
                  <a:lnTo>
                    <a:pt x="30941" y="255524"/>
                  </a:lnTo>
                  <a:lnTo>
                    <a:pt x="9968" y="216993"/>
                  </a:lnTo>
                  <a:lnTo>
                    <a:pt x="0" y="154468"/>
                  </a:lnTo>
                  <a:lnTo>
                    <a:pt x="4657" y="123155"/>
                  </a:lnTo>
                  <a:lnTo>
                    <a:pt x="32643" y="65577"/>
                  </a:lnTo>
                  <a:lnTo>
                    <a:pt x="80972" y="23072"/>
                  </a:lnTo>
                  <a:lnTo>
                    <a:pt x="155137" y="0"/>
                  </a:lnTo>
                  <a:lnTo>
                    <a:pt x="198816" y="2140"/>
                  </a:lnTo>
                  <a:lnTo>
                    <a:pt x="239910" y="14765"/>
                  </a:lnTo>
                  <a:lnTo>
                    <a:pt x="276356" y="36950"/>
                  </a:lnTo>
                  <a:lnTo>
                    <a:pt x="306096" y="67771"/>
                  </a:lnTo>
                  <a:lnTo>
                    <a:pt x="327068" y="106302"/>
                  </a:lnTo>
                  <a:lnTo>
                    <a:pt x="336714" y="148787"/>
                  </a:lnTo>
                  <a:lnTo>
                    <a:pt x="334487" y="190766"/>
                  </a:lnTo>
                  <a:lnTo>
                    <a:pt x="321350" y="230260"/>
                  </a:lnTo>
                  <a:lnTo>
                    <a:pt x="298267" y="265287"/>
                  </a:lnTo>
                  <a:lnTo>
                    <a:pt x="266197" y="293869"/>
                  </a:lnTo>
                  <a:lnTo>
                    <a:pt x="226106" y="314026"/>
                  </a:lnTo>
                  <a:lnTo>
                    <a:pt x="181900" y="32329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338765" y="3522956"/>
              <a:ext cx="1527810" cy="1493520"/>
            </a:xfrm>
            <a:custGeom>
              <a:avLst/>
              <a:gdLst/>
              <a:ahLst/>
              <a:cxnLst/>
              <a:rect l="l" t="t" r="r" b="b"/>
              <a:pathLst>
                <a:path w="1527810" h="1493520">
                  <a:moveTo>
                    <a:pt x="790367" y="1493234"/>
                  </a:moveTo>
                  <a:lnTo>
                    <a:pt x="743632" y="1491983"/>
                  </a:lnTo>
                  <a:lnTo>
                    <a:pt x="697346" y="1487966"/>
                  </a:lnTo>
                  <a:lnTo>
                    <a:pt x="651617" y="1481251"/>
                  </a:lnTo>
                  <a:lnTo>
                    <a:pt x="606551" y="1471908"/>
                  </a:lnTo>
                  <a:lnTo>
                    <a:pt x="562257" y="1460007"/>
                  </a:lnTo>
                  <a:lnTo>
                    <a:pt x="518840" y="1445617"/>
                  </a:lnTo>
                  <a:lnTo>
                    <a:pt x="476408" y="1428807"/>
                  </a:lnTo>
                  <a:lnTo>
                    <a:pt x="435067" y="1409647"/>
                  </a:lnTo>
                  <a:lnTo>
                    <a:pt x="394926" y="1388206"/>
                  </a:lnTo>
                  <a:lnTo>
                    <a:pt x="356090" y="1364553"/>
                  </a:lnTo>
                  <a:lnTo>
                    <a:pt x="318667" y="1338758"/>
                  </a:lnTo>
                  <a:lnTo>
                    <a:pt x="282764" y="1310891"/>
                  </a:lnTo>
                  <a:lnTo>
                    <a:pt x="248488" y="1281020"/>
                  </a:lnTo>
                  <a:lnTo>
                    <a:pt x="215946" y="1249215"/>
                  </a:lnTo>
                  <a:lnTo>
                    <a:pt x="185244" y="1215545"/>
                  </a:lnTo>
                  <a:lnTo>
                    <a:pt x="156490" y="1180080"/>
                  </a:lnTo>
                  <a:lnTo>
                    <a:pt x="129791" y="1142890"/>
                  </a:lnTo>
                  <a:lnTo>
                    <a:pt x="105254" y="1104043"/>
                  </a:lnTo>
                  <a:lnTo>
                    <a:pt x="82986" y="1063609"/>
                  </a:lnTo>
                  <a:lnTo>
                    <a:pt x="63094" y="1021657"/>
                  </a:lnTo>
                  <a:lnTo>
                    <a:pt x="45684" y="978257"/>
                  </a:lnTo>
                  <a:lnTo>
                    <a:pt x="30864" y="933478"/>
                  </a:lnTo>
                  <a:lnTo>
                    <a:pt x="18741" y="887389"/>
                  </a:lnTo>
                  <a:lnTo>
                    <a:pt x="9550" y="840746"/>
                  </a:lnTo>
                  <a:lnTo>
                    <a:pt x="3407" y="794326"/>
                  </a:lnTo>
                  <a:lnTo>
                    <a:pt x="246" y="748232"/>
                  </a:lnTo>
                  <a:lnTo>
                    <a:pt x="0" y="702566"/>
                  </a:lnTo>
                  <a:lnTo>
                    <a:pt x="2599" y="657430"/>
                  </a:lnTo>
                  <a:lnTo>
                    <a:pt x="7978" y="612927"/>
                  </a:lnTo>
                  <a:lnTo>
                    <a:pt x="16068" y="569158"/>
                  </a:lnTo>
                  <a:lnTo>
                    <a:pt x="26803" y="526227"/>
                  </a:lnTo>
                  <a:lnTo>
                    <a:pt x="40114" y="484236"/>
                  </a:lnTo>
                  <a:lnTo>
                    <a:pt x="55933" y="443288"/>
                  </a:lnTo>
                  <a:lnTo>
                    <a:pt x="74195" y="403483"/>
                  </a:lnTo>
                  <a:lnTo>
                    <a:pt x="94830" y="364926"/>
                  </a:lnTo>
                  <a:lnTo>
                    <a:pt x="117771" y="327718"/>
                  </a:lnTo>
                  <a:lnTo>
                    <a:pt x="142952" y="291962"/>
                  </a:lnTo>
                  <a:lnTo>
                    <a:pt x="170303" y="257760"/>
                  </a:lnTo>
                  <a:lnTo>
                    <a:pt x="199759" y="225214"/>
                  </a:lnTo>
                  <a:lnTo>
                    <a:pt x="231251" y="194427"/>
                  </a:lnTo>
                  <a:lnTo>
                    <a:pt x="264711" y="165502"/>
                  </a:lnTo>
                  <a:lnTo>
                    <a:pt x="300073" y="138540"/>
                  </a:lnTo>
                  <a:lnTo>
                    <a:pt x="337269" y="113644"/>
                  </a:lnTo>
                  <a:lnTo>
                    <a:pt x="376231" y="90917"/>
                  </a:lnTo>
                  <a:lnTo>
                    <a:pt x="416891" y="70460"/>
                  </a:lnTo>
                  <a:lnTo>
                    <a:pt x="459183" y="52376"/>
                  </a:lnTo>
                  <a:lnTo>
                    <a:pt x="503038" y="36768"/>
                  </a:lnTo>
                  <a:lnTo>
                    <a:pt x="548389" y="23738"/>
                  </a:lnTo>
                  <a:lnTo>
                    <a:pt x="595169" y="13388"/>
                  </a:lnTo>
                  <a:lnTo>
                    <a:pt x="644737" y="5685"/>
                  </a:lnTo>
                  <a:lnTo>
                    <a:pt x="694549" y="1233"/>
                  </a:lnTo>
                  <a:lnTo>
                    <a:pt x="744447" y="0"/>
                  </a:lnTo>
                  <a:lnTo>
                    <a:pt x="794273" y="1953"/>
                  </a:lnTo>
                  <a:lnTo>
                    <a:pt x="843869" y="7063"/>
                  </a:lnTo>
                  <a:lnTo>
                    <a:pt x="893075" y="15296"/>
                  </a:lnTo>
                  <a:lnTo>
                    <a:pt x="941734" y="26622"/>
                  </a:lnTo>
                  <a:lnTo>
                    <a:pt x="989688" y="41009"/>
                  </a:lnTo>
                  <a:lnTo>
                    <a:pt x="1036778" y="58424"/>
                  </a:lnTo>
                  <a:lnTo>
                    <a:pt x="1082846" y="78837"/>
                  </a:lnTo>
                  <a:lnTo>
                    <a:pt x="1127733" y="102216"/>
                  </a:lnTo>
                  <a:lnTo>
                    <a:pt x="1171282" y="128530"/>
                  </a:lnTo>
                  <a:lnTo>
                    <a:pt x="1213052" y="157539"/>
                  </a:lnTo>
                  <a:lnTo>
                    <a:pt x="1252649" y="188941"/>
                  </a:lnTo>
                  <a:lnTo>
                    <a:pt x="1289978" y="222604"/>
                  </a:lnTo>
                  <a:lnTo>
                    <a:pt x="1324948" y="258397"/>
                  </a:lnTo>
                  <a:lnTo>
                    <a:pt x="1357465" y="296189"/>
                  </a:lnTo>
                  <a:lnTo>
                    <a:pt x="1387437" y="335850"/>
                  </a:lnTo>
                  <a:lnTo>
                    <a:pt x="1414771" y="377246"/>
                  </a:lnTo>
                  <a:lnTo>
                    <a:pt x="1439375" y="420249"/>
                  </a:lnTo>
                  <a:lnTo>
                    <a:pt x="1461155" y="464726"/>
                  </a:lnTo>
                  <a:lnTo>
                    <a:pt x="1480020" y="510547"/>
                  </a:lnTo>
                  <a:lnTo>
                    <a:pt x="1495876" y="557580"/>
                  </a:lnTo>
                  <a:lnTo>
                    <a:pt x="1508631" y="605694"/>
                  </a:lnTo>
                  <a:lnTo>
                    <a:pt x="1517823" y="652337"/>
                  </a:lnTo>
                  <a:lnTo>
                    <a:pt x="1523965" y="698756"/>
                  </a:lnTo>
                  <a:lnTo>
                    <a:pt x="1527126" y="744850"/>
                  </a:lnTo>
                  <a:lnTo>
                    <a:pt x="1527373" y="790517"/>
                  </a:lnTo>
                  <a:lnTo>
                    <a:pt x="1524773" y="835653"/>
                  </a:lnTo>
                  <a:lnTo>
                    <a:pt x="1519394" y="880156"/>
                  </a:lnTo>
                  <a:lnTo>
                    <a:pt x="1511304" y="923924"/>
                  </a:lnTo>
                  <a:lnTo>
                    <a:pt x="1500570" y="966855"/>
                  </a:lnTo>
                  <a:lnTo>
                    <a:pt x="1487259" y="1008846"/>
                  </a:lnTo>
                  <a:lnTo>
                    <a:pt x="1471439" y="1049795"/>
                  </a:lnTo>
                  <a:lnTo>
                    <a:pt x="1453178" y="1089599"/>
                  </a:lnTo>
                  <a:lnTo>
                    <a:pt x="1432543" y="1128156"/>
                  </a:lnTo>
                  <a:lnTo>
                    <a:pt x="1409601" y="1165364"/>
                  </a:lnTo>
                  <a:lnTo>
                    <a:pt x="1384421" y="1201121"/>
                  </a:lnTo>
                  <a:lnTo>
                    <a:pt x="1357069" y="1235323"/>
                  </a:lnTo>
                  <a:lnTo>
                    <a:pt x="1327614" y="1267868"/>
                  </a:lnTo>
                  <a:lnTo>
                    <a:pt x="1296122" y="1298655"/>
                  </a:lnTo>
                  <a:lnTo>
                    <a:pt x="1262661" y="1327581"/>
                  </a:lnTo>
                  <a:lnTo>
                    <a:pt x="1227299" y="1354543"/>
                  </a:lnTo>
                  <a:lnTo>
                    <a:pt x="1190104" y="1379438"/>
                  </a:lnTo>
                  <a:lnTo>
                    <a:pt x="1151142" y="1402166"/>
                  </a:lnTo>
                  <a:lnTo>
                    <a:pt x="1110481" y="1422623"/>
                  </a:lnTo>
                  <a:lnTo>
                    <a:pt x="1068190" y="1440706"/>
                  </a:lnTo>
                  <a:lnTo>
                    <a:pt x="1024334" y="1456314"/>
                  </a:lnTo>
                  <a:lnTo>
                    <a:pt x="978983" y="1469344"/>
                  </a:lnTo>
                  <a:lnTo>
                    <a:pt x="932203" y="1479694"/>
                  </a:lnTo>
                  <a:lnTo>
                    <a:pt x="884760" y="1487159"/>
                  </a:lnTo>
                  <a:lnTo>
                    <a:pt x="837446" y="1491649"/>
                  </a:lnTo>
                  <a:lnTo>
                    <a:pt x="790367" y="1493234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8738760" y="4848571"/>
            <a:ext cx="21335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i="0" kern="1200">
                <a:solidFill>
                  <a:srgbClr val="424242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10"/>
              </a:spcBef>
            </a:pPr>
            <a:fld id="{81D60167-4931-47E6-BA6A-407CBD079E47}" type="slidenum">
              <a:rPr lang="fr-FR" spc="35" smtClean="0"/>
              <a:pPr marL="38100">
                <a:spcBef>
                  <a:spcPts val="110"/>
                </a:spcBef>
              </a:pPr>
              <a:t>10</a:t>
            </a:fld>
            <a:endParaRPr spc="47" dirty="0"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FB77DA9A-5322-4ED8-A09E-C0F898B68BE0}"/>
              </a:ext>
            </a:extLst>
          </p:cNvPr>
          <p:cNvSpPr txBox="1"/>
          <p:nvPr/>
        </p:nvSpPr>
        <p:spPr>
          <a:xfrm rot="480000">
            <a:off x="4931457" y="5341745"/>
            <a:ext cx="116609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3"/>
              </a:lnSpc>
            </a:pPr>
            <a:r>
              <a:rPr lang="fr-FR" sz="1333" spc="-13" dirty="0">
                <a:solidFill>
                  <a:srgbClr val="FFFFFF"/>
                </a:solidFill>
                <a:latin typeface="Arial MT"/>
                <a:cs typeface="Arial MT"/>
              </a:rPr>
              <a:t>Population jeune</a:t>
            </a:r>
            <a:endParaRPr sz="1333" dirty="0">
              <a:latin typeface="Arial MT"/>
              <a:cs typeface="Arial MT"/>
            </a:endParaRPr>
          </a:p>
        </p:txBody>
      </p:sp>
      <p:pic>
        <p:nvPicPr>
          <p:cNvPr id="33" name="object 14">
            <a:extLst>
              <a:ext uri="{FF2B5EF4-FFF2-40B4-BE49-F238E27FC236}">
                <a16:creationId xmlns:a16="http://schemas.microsoft.com/office/drawing/2014/main" id="{71EDC259-71B3-49BF-9583-46482795871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93ACCC-4EC6-AF65-4977-45C1A0F2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spc="10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Parmis</a:t>
            </a:r>
            <a:r>
              <a:rPr lang="en-US" sz="2800" kern="1200" spc="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les</a:t>
            </a:r>
            <a:r>
              <a:rPr lang="en-US" sz="2800" kern="1200" spc="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-8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4000</a:t>
            </a:r>
            <a:r>
              <a:rPr lang="en-US" sz="2800" kern="1200" spc="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9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indicateurs</a:t>
            </a:r>
            <a:r>
              <a:rPr lang="en-US" sz="2800" kern="1200" spc="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0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voici</a:t>
            </a:r>
            <a:r>
              <a:rPr lang="en-US" sz="2800" kern="1200" spc="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4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ceux</a:t>
            </a:r>
            <a:r>
              <a:rPr lang="en-US" sz="2800" kern="1200" spc="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2800" kern="1200" spc="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nous </a:t>
            </a:r>
            <a:r>
              <a:rPr lang="en-US" sz="2800" kern="1200" spc="-6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3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avons</a:t>
            </a:r>
            <a:r>
              <a:rPr lang="en-US" sz="2800" kern="1200" spc="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spc="11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retenu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: </a:t>
            </a:r>
          </a:p>
        </p:txBody>
      </p:sp>
      <p:pic>
        <p:nvPicPr>
          <p:cNvPr id="4" name="Image 4" descr="Une image contenant table&#10;&#10;Description générée automatiquement">
            <a:extLst>
              <a:ext uri="{FF2B5EF4-FFF2-40B4-BE49-F238E27FC236}">
                <a16:creationId xmlns:a16="http://schemas.microsoft.com/office/drawing/2014/main" id="{7E92F01B-56DA-F008-74CD-3D439FACC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749" y="2354239"/>
            <a:ext cx="10458502" cy="3948085"/>
          </a:xfrm>
          <a:prstGeom prst="rect">
            <a:avLst/>
          </a:prstGeom>
        </p:spPr>
      </p:pic>
      <p:pic>
        <p:nvPicPr>
          <p:cNvPr id="5" name="object 14">
            <a:extLst>
              <a:ext uri="{FF2B5EF4-FFF2-40B4-BE49-F238E27FC236}">
                <a16:creationId xmlns:a16="http://schemas.microsoft.com/office/drawing/2014/main" id="{726BD056-8DF0-4F3B-B4B5-A4112B649A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3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B3FD96-3CCF-4C9D-9A6C-B379E652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fr-FR" sz="3600" dirty="0"/>
              <a:t>Le remplissage du </a:t>
            </a:r>
            <a:r>
              <a:rPr lang="fr-FR" sz="3600" dirty="0" err="1"/>
              <a:t>dataframe</a:t>
            </a:r>
            <a:r>
              <a:rPr lang="fr-FR" sz="3600" dirty="0"/>
              <a:t> selon les indicateurs </a:t>
            </a:r>
            <a:r>
              <a:rPr lang="fr-FR" sz="3600" dirty="0" err="1"/>
              <a:t>séléctionnés</a:t>
            </a:r>
            <a:r>
              <a:rPr lang="fr-FR" sz="3600" dirty="0"/>
              <a:t> 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FADDCA2-E1EB-4D3B-98B2-F7734513A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2352271"/>
            <a:ext cx="6702552" cy="3250737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BB20FF-8E2A-561A-B3A3-E231734FB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de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manquantes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 2007 et 2014</a:t>
            </a: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récupère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dernière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n-US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chaque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indicateur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chaque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pays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afin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procéder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plus </a:t>
            </a:r>
            <a:r>
              <a:rPr lang="fr-FR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pertinente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5170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579499-B5E4-E8A5-01B0-E373E887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96" y="609600"/>
            <a:ext cx="3934446" cy="1330839"/>
          </a:xfrm>
        </p:spPr>
        <p:txBody>
          <a:bodyPr>
            <a:normAutofit/>
          </a:bodyPr>
          <a:lstStyle/>
          <a:p>
            <a:r>
              <a:rPr lang="fr-FR" sz="2800" dirty="0"/>
              <a:t>Le remplissage des indicateurs </a:t>
            </a:r>
            <a:r>
              <a:rPr lang="fr-FR" sz="2800" dirty="0" err="1"/>
              <a:t>séléctionnés</a:t>
            </a:r>
            <a:r>
              <a:rPr lang="fr-FR" sz="2800" dirty="0"/>
              <a:t>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32A52A-37E6-C795-8CCB-5BBC738A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12700" marR="94615">
              <a:spcBef>
                <a:spcPts val="185"/>
              </a:spcBef>
            </a:pPr>
            <a:endParaRPr lang="fr-FR" sz="2000" spc="-20" dirty="0">
              <a:latin typeface="Roboto"/>
              <a:cs typeface="Roboto"/>
            </a:endParaRPr>
          </a:p>
          <a:p>
            <a:pPr marL="12700" marR="94615">
              <a:spcBef>
                <a:spcPts val="185"/>
              </a:spcBef>
            </a:pPr>
            <a:endParaRPr lang="fr-FR" sz="2000" spc="-20" dirty="0">
              <a:latin typeface="Roboto"/>
              <a:cs typeface="Roboto"/>
            </a:endParaRPr>
          </a:p>
          <a:p>
            <a:pPr marL="12700" marR="94615">
              <a:spcBef>
                <a:spcPts val="185"/>
              </a:spcBef>
            </a:pPr>
            <a:endParaRPr lang="fr-FR" sz="2000" spc="-20" dirty="0">
              <a:latin typeface="Roboto"/>
              <a:cs typeface="Roboto"/>
            </a:endParaRPr>
          </a:p>
          <a:p>
            <a:pPr marL="12700" marR="94615">
              <a:spcBef>
                <a:spcPts val="185"/>
              </a:spcBef>
            </a:pPr>
            <a:r>
              <a:rPr lang="fr-FR" sz="2000" spc="-20" dirty="0">
                <a:latin typeface="Roboto"/>
                <a:cs typeface="Roboto"/>
              </a:rPr>
              <a:t>Pour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15" dirty="0">
                <a:latin typeface="Roboto"/>
                <a:cs typeface="Roboto"/>
              </a:rPr>
              <a:t>209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25" dirty="0">
                <a:latin typeface="Roboto"/>
                <a:cs typeface="Roboto"/>
              </a:rPr>
              <a:t>pays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10" dirty="0">
                <a:latin typeface="Roboto"/>
                <a:cs typeface="Roboto"/>
              </a:rPr>
              <a:t>et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20" dirty="0">
                <a:latin typeface="Roboto"/>
                <a:cs typeface="Roboto"/>
              </a:rPr>
              <a:t>groupes</a:t>
            </a:r>
            <a:r>
              <a:rPr lang="fr-FR" sz="2000" dirty="0">
                <a:latin typeface="Roboto"/>
                <a:cs typeface="Roboto"/>
              </a:rPr>
              <a:t> </a:t>
            </a:r>
            <a:r>
              <a:rPr lang="fr-FR" sz="2000" spc="-10" dirty="0">
                <a:latin typeface="Roboto"/>
                <a:cs typeface="Roboto"/>
              </a:rPr>
              <a:t>de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25" dirty="0">
                <a:latin typeface="Roboto"/>
                <a:cs typeface="Roboto"/>
              </a:rPr>
              <a:t>pays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25" dirty="0">
                <a:latin typeface="Roboto"/>
                <a:cs typeface="Roboto"/>
              </a:rPr>
              <a:t>nous </a:t>
            </a:r>
            <a:r>
              <a:rPr lang="fr-FR" sz="2000" spc="-235" dirty="0">
                <a:latin typeface="Roboto"/>
                <a:cs typeface="Roboto"/>
              </a:rPr>
              <a:t> </a:t>
            </a:r>
            <a:r>
              <a:rPr lang="fr-FR" sz="2000" spc="-25" dirty="0">
                <a:latin typeface="Roboto"/>
                <a:cs typeface="Roboto"/>
              </a:rPr>
              <a:t>avons</a:t>
            </a:r>
            <a:r>
              <a:rPr lang="fr-FR" sz="2000" spc="-10" dirty="0">
                <a:latin typeface="Roboto"/>
                <a:cs typeface="Roboto"/>
              </a:rPr>
              <a:t> </a:t>
            </a:r>
            <a:r>
              <a:rPr lang="fr-FR" sz="2000" spc="-25" dirty="0">
                <a:latin typeface="Roboto"/>
                <a:cs typeface="Roboto"/>
              </a:rPr>
              <a:t>un</a:t>
            </a:r>
            <a:r>
              <a:rPr lang="fr-FR" sz="2000" spc="-15" dirty="0">
                <a:latin typeface="Roboto"/>
                <a:cs typeface="Roboto"/>
              </a:rPr>
              <a:t> </a:t>
            </a:r>
            <a:r>
              <a:rPr lang="fr-FR" sz="2000" spc="-20" dirty="0">
                <a:latin typeface="Roboto"/>
                <a:cs typeface="Roboto"/>
              </a:rPr>
              <a:t>taux</a:t>
            </a:r>
            <a:r>
              <a:rPr lang="fr-FR" sz="2000" spc="-10" dirty="0">
                <a:latin typeface="Roboto"/>
                <a:cs typeface="Roboto"/>
              </a:rPr>
              <a:t> de </a:t>
            </a:r>
            <a:r>
              <a:rPr lang="fr-FR" sz="2000" spc="-15" dirty="0">
                <a:latin typeface="Roboto"/>
                <a:cs typeface="Roboto"/>
              </a:rPr>
              <a:t>remplissage qui avoisine</a:t>
            </a:r>
            <a:r>
              <a:rPr lang="fr-FR" sz="2000" spc="-5" dirty="0">
                <a:latin typeface="Roboto"/>
                <a:cs typeface="Roboto"/>
              </a:rPr>
              <a:t> </a:t>
            </a:r>
            <a:r>
              <a:rPr lang="fr-FR" sz="2000" spc="-10" dirty="0">
                <a:latin typeface="Roboto"/>
                <a:cs typeface="Roboto"/>
              </a:rPr>
              <a:t> </a:t>
            </a:r>
            <a:r>
              <a:rPr lang="fr-FR" sz="2000" spc="-15" dirty="0">
                <a:latin typeface="Roboto"/>
                <a:cs typeface="Roboto"/>
              </a:rPr>
              <a:t>95% </a:t>
            </a:r>
            <a:r>
              <a:rPr lang="fr-FR" sz="2000" spc="-20" dirty="0">
                <a:latin typeface="Roboto"/>
                <a:cs typeface="Roboto"/>
              </a:rPr>
              <a:t>environ.</a:t>
            </a:r>
            <a:endParaRPr lang="fr-FR" sz="2000" dirty="0">
              <a:latin typeface="Roboto"/>
              <a:cs typeface="Roboto"/>
            </a:endParaRPr>
          </a:p>
          <a:p>
            <a:pPr>
              <a:spcBef>
                <a:spcPts val="55"/>
              </a:spcBef>
            </a:pPr>
            <a:endParaRPr lang="fr-FR" sz="2000" dirty="0">
              <a:latin typeface="Roboto"/>
              <a:cs typeface="Roboto"/>
            </a:endParaRPr>
          </a:p>
          <a:p>
            <a:pPr marL="12700" marR="5080"/>
            <a:r>
              <a:rPr lang="fr-FR" sz="2000" spc="-5" dirty="0">
                <a:latin typeface="Roboto"/>
                <a:cs typeface="Roboto"/>
              </a:rPr>
              <a:t>Ces</a:t>
            </a:r>
            <a:r>
              <a:rPr lang="fr-FR" sz="2000" spc="-10" dirty="0">
                <a:latin typeface="Roboto"/>
                <a:cs typeface="Roboto"/>
              </a:rPr>
              <a:t> </a:t>
            </a:r>
            <a:r>
              <a:rPr lang="fr-FR" sz="2000" spc="-20" dirty="0">
                <a:latin typeface="Roboto"/>
                <a:cs typeface="Roboto"/>
              </a:rPr>
              <a:t>indicateurs</a:t>
            </a:r>
            <a:r>
              <a:rPr lang="fr-FR" sz="2000" spc="-15" dirty="0">
                <a:latin typeface="Roboto"/>
                <a:cs typeface="Roboto"/>
              </a:rPr>
              <a:t> </a:t>
            </a:r>
            <a:r>
              <a:rPr lang="fr-FR" sz="2000" spc="-20" dirty="0">
                <a:latin typeface="Roboto"/>
                <a:cs typeface="Roboto"/>
              </a:rPr>
              <a:t>sont</a:t>
            </a:r>
            <a:r>
              <a:rPr lang="fr-FR" sz="2000" spc="-5" dirty="0">
                <a:latin typeface="Roboto"/>
                <a:cs typeface="Roboto"/>
              </a:rPr>
              <a:t> parfaitement exploitables et représentatifs</a:t>
            </a:r>
            <a:r>
              <a:rPr lang="fr-FR" sz="2000" spc="-15" dirty="0">
                <a:latin typeface="Roboto"/>
                <a:cs typeface="Roboto"/>
              </a:rPr>
              <a:t>.</a:t>
            </a:r>
            <a:endParaRPr lang="en-US" sz="2000" dirty="0"/>
          </a:p>
        </p:txBody>
      </p:sp>
      <p:pic>
        <p:nvPicPr>
          <p:cNvPr id="4" name="Image 4" descr="Une image contenant texte, carte de visite, capture d’écran&#10;&#10;Description générée automatiquement">
            <a:extLst>
              <a:ext uri="{FF2B5EF4-FFF2-40B4-BE49-F238E27FC236}">
                <a16:creationId xmlns:a16="http://schemas.microsoft.com/office/drawing/2014/main" id="{67D2D18C-8C35-7976-B064-A71D56D43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99" y="1275019"/>
            <a:ext cx="7308501" cy="5127375"/>
          </a:xfrm>
          <a:prstGeom prst="rect">
            <a:avLst/>
          </a:prstGeom>
        </p:spPr>
      </p:pic>
      <p:pic>
        <p:nvPicPr>
          <p:cNvPr id="5" name="object 14">
            <a:extLst>
              <a:ext uri="{FF2B5EF4-FFF2-40B4-BE49-F238E27FC236}">
                <a16:creationId xmlns:a16="http://schemas.microsoft.com/office/drawing/2014/main" id="{AA4D7659-B5CA-4971-A5C7-4F8EEF4BBC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014690-5C99-2D5B-E6F4-A958CCBC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5400" spc="95"/>
              <a:t>Séléction des pays :</a:t>
            </a:r>
            <a:endParaRPr lang="fr-FR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C624FA-05EB-CE5B-97DE-BD34D42E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12700" marR="5080">
              <a:spcBef>
                <a:spcPts val="204"/>
              </a:spcBef>
            </a:pPr>
            <a:r>
              <a:rPr lang="fr-FR" sz="1200" spc="-5" dirty="0">
                <a:latin typeface="Roboto"/>
                <a:cs typeface="Roboto"/>
              </a:rPr>
              <a:t>Les</a:t>
            </a:r>
            <a:r>
              <a:rPr lang="fr-FR" sz="1200" spc="-10" dirty="0">
                <a:latin typeface="Roboto"/>
                <a:cs typeface="Roboto"/>
              </a:rPr>
              <a:t> </a:t>
            </a:r>
            <a:r>
              <a:rPr lang="fr-FR" sz="1200" spc="-20" dirty="0">
                <a:latin typeface="Roboto"/>
                <a:cs typeface="Roboto"/>
              </a:rPr>
              <a:t>pays</a:t>
            </a:r>
            <a:r>
              <a:rPr lang="fr-FR" sz="1200" spc="-10" dirty="0">
                <a:latin typeface="Roboto"/>
                <a:cs typeface="Roboto"/>
              </a:rPr>
              <a:t> qui </a:t>
            </a:r>
            <a:r>
              <a:rPr lang="fr-FR" sz="1200" spc="-15" dirty="0">
                <a:latin typeface="Roboto"/>
                <a:cs typeface="Roboto"/>
              </a:rPr>
              <a:t>vont</a:t>
            </a:r>
            <a:r>
              <a:rPr lang="fr-FR" sz="1200" spc="-10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nous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-10" dirty="0">
                <a:latin typeface="Roboto"/>
                <a:cs typeface="Roboto"/>
              </a:rPr>
              <a:t>intéresser 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-10" dirty="0">
                <a:latin typeface="Roboto"/>
                <a:cs typeface="Roboto"/>
              </a:rPr>
              <a:t>pour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-20" dirty="0">
                <a:latin typeface="Roboto"/>
                <a:cs typeface="Roboto"/>
              </a:rPr>
              <a:t>l'expansion</a:t>
            </a:r>
            <a:r>
              <a:rPr lang="fr-FR" sz="1200" spc="-10" dirty="0">
                <a:latin typeface="Roboto"/>
                <a:cs typeface="Roboto"/>
              </a:rPr>
              <a:t> sont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-10" dirty="0">
                <a:latin typeface="Roboto"/>
                <a:cs typeface="Roboto"/>
              </a:rPr>
              <a:t>dans </a:t>
            </a:r>
            <a:r>
              <a:rPr lang="fr-FR" sz="1200" spc="-5" dirty="0">
                <a:latin typeface="Roboto"/>
                <a:cs typeface="Roboto"/>
              </a:rPr>
              <a:t>le</a:t>
            </a:r>
            <a:r>
              <a:rPr lang="fr-FR" sz="1200" spc="-10" dirty="0">
                <a:latin typeface="Roboto"/>
                <a:cs typeface="Roboto"/>
              </a:rPr>
              <a:t> </a:t>
            </a:r>
            <a:r>
              <a:rPr lang="fr-FR" sz="1200" spc="-5" dirty="0">
                <a:latin typeface="Roboto"/>
                <a:cs typeface="Roboto"/>
              </a:rPr>
              <a:t>cadre </a:t>
            </a:r>
            <a:r>
              <a:rPr lang="fr-FR" sz="1200" spc="-295" dirty="0">
                <a:latin typeface="Roboto"/>
                <a:cs typeface="Roboto"/>
              </a:rPr>
              <a:t> </a:t>
            </a:r>
            <a:r>
              <a:rPr lang="fr-FR" sz="1200" spc="-10" dirty="0">
                <a:latin typeface="Roboto"/>
                <a:cs typeface="Roboto"/>
              </a:rPr>
              <a:t>supérieur</a:t>
            </a:r>
            <a:r>
              <a:rPr lang="fr-FR" sz="1200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droit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du</a:t>
            </a:r>
            <a:r>
              <a:rPr lang="fr-FR" sz="1200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graphique.</a:t>
            </a:r>
            <a:r>
              <a:rPr lang="fr-FR" sz="1200" spc="20" dirty="0">
                <a:latin typeface="Roboto"/>
                <a:cs typeface="Roboto"/>
              </a:rPr>
              <a:t> </a:t>
            </a:r>
            <a:r>
              <a:rPr lang="fr-FR" sz="1200" spc="-5" dirty="0">
                <a:latin typeface="Roboto"/>
                <a:cs typeface="Roboto"/>
              </a:rPr>
              <a:t>cad </a:t>
            </a:r>
            <a:r>
              <a:rPr lang="fr-FR" sz="1200" dirty="0">
                <a:latin typeface="Roboto"/>
                <a:cs typeface="Roboto"/>
              </a:rPr>
              <a:t> </a:t>
            </a:r>
            <a:r>
              <a:rPr lang="fr-FR" sz="1200" spc="15" dirty="0">
                <a:latin typeface="Roboto"/>
                <a:cs typeface="Roboto"/>
              </a:rPr>
              <a:t>NET</a:t>
            </a:r>
            <a:r>
              <a:rPr lang="fr-FR" sz="1200" spc="-30" dirty="0">
                <a:latin typeface="Roboto"/>
                <a:cs typeface="Roboto"/>
              </a:rPr>
              <a:t> </a:t>
            </a:r>
            <a:r>
              <a:rPr lang="fr-FR" sz="1200" dirty="0">
                <a:latin typeface="Roboto"/>
                <a:cs typeface="Roboto"/>
              </a:rPr>
              <a:t>&gt;55%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dirty="0">
                <a:latin typeface="Roboto"/>
                <a:cs typeface="Roboto"/>
              </a:rPr>
              <a:t>&amp;</a:t>
            </a:r>
            <a:r>
              <a:rPr lang="fr-FR" sz="1200" spc="-10" dirty="0">
                <a:latin typeface="Roboto"/>
                <a:cs typeface="Roboto"/>
              </a:rPr>
              <a:t> </a:t>
            </a:r>
            <a:r>
              <a:rPr lang="fr-FR" sz="1200" dirty="0">
                <a:latin typeface="Roboto"/>
                <a:cs typeface="Roboto"/>
              </a:rPr>
              <a:t>POP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dirty="0">
                <a:latin typeface="Roboto"/>
                <a:cs typeface="Roboto"/>
              </a:rPr>
              <a:t>&gt;</a:t>
            </a:r>
            <a:r>
              <a:rPr lang="fr-FR" sz="1200" spc="-5" dirty="0">
                <a:latin typeface="Roboto"/>
                <a:cs typeface="Roboto"/>
              </a:rPr>
              <a:t> </a:t>
            </a:r>
            <a:r>
              <a:rPr lang="fr-FR" sz="1200" spc="5" dirty="0">
                <a:latin typeface="Roboto"/>
                <a:cs typeface="Roboto"/>
              </a:rPr>
              <a:t>2M</a:t>
            </a:r>
            <a:endParaRPr lang="fr-FR" sz="1200" spc="-5" dirty="0">
              <a:latin typeface="Roboto"/>
              <a:cs typeface="Roboto"/>
            </a:endParaRPr>
          </a:p>
          <a:p>
            <a:pPr marL="12700" marR="5080">
              <a:spcBef>
                <a:spcPts val="204"/>
              </a:spcBef>
            </a:pPr>
            <a:endParaRPr lang="fr-FR" sz="1200" dirty="0">
              <a:latin typeface="Roboto"/>
              <a:cs typeface="Roboto"/>
            </a:endParaRPr>
          </a:p>
          <a:p>
            <a:pPr>
              <a:spcBef>
                <a:spcPts val="50"/>
              </a:spcBef>
            </a:pPr>
            <a:r>
              <a:rPr lang="fr-FR" sz="1200" dirty="0">
                <a:latin typeface="Roboto"/>
                <a:cs typeface="Roboto"/>
              </a:rPr>
              <a:t>On peut repérer : </a:t>
            </a: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15" dirty="0">
                <a:latin typeface="Roboto"/>
                <a:cs typeface="Roboto"/>
              </a:rPr>
              <a:t>l</a:t>
            </a:r>
            <a:r>
              <a:rPr lang="fr-FR" sz="1200" spc="-5" dirty="0">
                <a:latin typeface="Roboto"/>
                <a:cs typeface="Roboto"/>
              </a:rPr>
              <a:t>a </a:t>
            </a:r>
            <a:r>
              <a:rPr lang="fr-FR" sz="1200" spc="20" dirty="0">
                <a:latin typeface="Roboto"/>
                <a:cs typeface="Roboto"/>
              </a:rPr>
              <a:t>C</a:t>
            </a:r>
            <a:r>
              <a:rPr lang="fr-FR" sz="1200" spc="-25" dirty="0">
                <a:latin typeface="Roboto"/>
                <a:cs typeface="Roboto"/>
              </a:rPr>
              <a:t>h</a:t>
            </a:r>
            <a:r>
              <a:rPr lang="fr-FR" sz="1200" spc="-15" dirty="0">
                <a:latin typeface="Roboto"/>
                <a:cs typeface="Roboto"/>
              </a:rPr>
              <a:t>i</a:t>
            </a:r>
            <a:r>
              <a:rPr lang="fr-FR" sz="1200" spc="-25" dirty="0">
                <a:latin typeface="Roboto"/>
                <a:cs typeface="Roboto"/>
              </a:rPr>
              <a:t>n</a:t>
            </a:r>
            <a:r>
              <a:rPr lang="fr-FR" sz="1200" spc="10" dirty="0">
                <a:latin typeface="Roboto"/>
                <a:cs typeface="Roboto"/>
              </a:rPr>
              <a:t>e</a:t>
            </a:r>
            <a:endParaRPr lang="fr-FR" sz="1200" dirty="0">
              <a:latin typeface="Roboto"/>
              <a:cs typeface="Roboto"/>
            </a:endParaRP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5" dirty="0">
                <a:latin typeface="Roboto"/>
                <a:cs typeface="Roboto"/>
              </a:rPr>
              <a:t>le</a:t>
            </a:r>
            <a:r>
              <a:rPr lang="fr-FR" sz="1200" spc="-75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Brésil</a:t>
            </a:r>
            <a:endParaRPr lang="fr-FR" sz="1200" dirty="0">
              <a:latin typeface="Roboto"/>
              <a:cs typeface="Roboto"/>
            </a:endParaRP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5" dirty="0">
                <a:latin typeface="Roboto"/>
                <a:cs typeface="Roboto"/>
              </a:rPr>
              <a:t>Le </a:t>
            </a:r>
            <a:r>
              <a:rPr lang="fr-FR" sz="1200" spc="-5" dirty="0" err="1">
                <a:latin typeface="Roboto"/>
                <a:cs typeface="Roboto"/>
              </a:rPr>
              <a:t>Méxique</a:t>
            </a:r>
            <a:r>
              <a:rPr lang="fr-FR" sz="1200" spc="-5" dirty="0">
                <a:latin typeface="Roboto"/>
                <a:cs typeface="Roboto"/>
              </a:rPr>
              <a:t> </a:t>
            </a:r>
            <a:endParaRPr lang="fr-FR" sz="1200" dirty="0">
              <a:latin typeface="Roboto"/>
              <a:cs typeface="Roboto"/>
            </a:endParaRP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10" dirty="0">
                <a:latin typeface="Roboto"/>
                <a:cs typeface="Roboto"/>
              </a:rPr>
              <a:t>USA</a:t>
            </a:r>
            <a:endParaRPr lang="fr-FR" sz="1200" dirty="0">
              <a:latin typeface="Roboto"/>
              <a:cs typeface="Roboto"/>
            </a:endParaRP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10" dirty="0">
                <a:latin typeface="Roboto"/>
                <a:cs typeface="Roboto"/>
              </a:rPr>
              <a:t>la</a:t>
            </a:r>
            <a:r>
              <a:rPr lang="fr-FR" sz="1200" spc="-35" dirty="0">
                <a:latin typeface="Roboto"/>
                <a:cs typeface="Roboto"/>
              </a:rPr>
              <a:t> </a:t>
            </a:r>
            <a:r>
              <a:rPr lang="fr-FR" sz="1200" spc="-15" dirty="0">
                <a:latin typeface="Roboto"/>
                <a:cs typeface="Roboto"/>
              </a:rPr>
              <a:t>Russie</a:t>
            </a:r>
            <a:endParaRPr lang="fr-FR" sz="1200" dirty="0">
              <a:latin typeface="Roboto"/>
              <a:cs typeface="Roboto"/>
            </a:endParaRPr>
          </a:p>
          <a:p>
            <a:pPr marL="469900" indent="-325755"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lang="fr-FR" sz="1200" spc="-5" dirty="0">
                <a:latin typeface="Roboto"/>
                <a:cs typeface="Roboto"/>
              </a:rPr>
              <a:t>le</a:t>
            </a:r>
            <a:r>
              <a:rPr lang="fr-FR" sz="1200" spc="-40" dirty="0">
                <a:latin typeface="Roboto"/>
                <a:cs typeface="Roboto"/>
              </a:rPr>
              <a:t> </a:t>
            </a:r>
            <a:r>
              <a:rPr lang="fr-FR" sz="1200" spc="-5" dirty="0">
                <a:latin typeface="Roboto"/>
                <a:cs typeface="Roboto"/>
              </a:rPr>
              <a:t>Japon</a:t>
            </a:r>
            <a:endParaRPr lang="en-US" sz="1200" dirty="0"/>
          </a:p>
        </p:txBody>
      </p:sp>
      <p:pic>
        <p:nvPicPr>
          <p:cNvPr id="4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BF18582F-DD37-7C17-9421-05E8FCD82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651" y="1600543"/>
            <a:ext cx="7375694" cy="4501522"/>
          </a:xfrm>
          <a:prstGeom prst="rect">
            <a:avLst/>
          </a:prstGeom>
        </p:spPr>
      </p:pic>
      <p:pic>
        <p:nvPicPr>
          <p:cNvPr id="5" name="object 14">
            <a:extLst>
              <a:ext uri="{FF2B5EF4-FFF2-40B4-BE49-F238E27FC236}">
                <a16:creationId xmlns:a16="http://schemas.microsoft.com/office/drawing/2014/main" id="{00B1D714-6F55-4E5B-BB49-9268A9A00E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4CB2D5-BB5D-4783-820C-0802F9B51682}"/>
              </a:ext>
            </a:extLst>
          </p:cNvPr>
          <p:cNvSpPr/>
          <p:nvPr/>
        </p:nvSpPr>
        <p:spPr>
          <a:xfrm>
            <a:off x="8935618" y="2682922"/>
            <a:ext cx="980412" cy="823758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81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4ED8E1-BB87-0DCA-B481-24680E59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Exemple de statistiques descriptives par régions : 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3D81A76-36F3-48BB-AE39-14FA8CEF8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06" y="2073908"/>
            <a:ext cx="6525977" cy="3296110"/>
          </a:xfrm>
        </p:spPr>
      </p:pic>
      <p:pic>
        <p:nvPicPr>
          <p:cNvPr id="4" name="object 14">
            <a:extLst>
              <a:ext uri="{FF2B5EF4-FFF2-40B4-BE49-F238E27FC236}">
                <a16:creationId xmlns:a16="http://schemas.microsoft.com/office/drawing/2014/main" id="{72B0FFB3-4E88-4166-9789-3AA356D214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8" name="object 11">
            <a:extLst>
              <a:ext uri="{FF2B5EF4-FFF2-40B4-BE49-F238E27FC236}">
                <a16:creationId xmlns:a16="http://schemas.microsoft.com/office/drawing/2014/main" id="{0D304045-9123-42A6-BB2D-32AD79E57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9547" y="3583457"/>
            <a:ext cx="396775" cy="162920"/>
          </a:xfrm>
          <a:prstGeom prst="rect">
            <a:avLst/>
          </a:prstGeom>
        </p:spPr>
      </p:pic>
      <p:pic>
        <p:nvPicPr>
          <p:cNvPr id="9" name="object 11">
            <a:extLst>
              <a:ext uri="{FF2B5EF4-FFF2-40B4-BE49-F238E27FC236}">
                <a16:creationId xmlns:a16="http://schemas.microsoft.com/office/drawing/2014/main" id="{EAA3C012-F86A-4B11-AF3E-A98AA7AFCE1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9547" y="4489497"/>
            <a:ext cx="396776" cy="162920"/>
          </a:xfrm>
          <a:prstGeom prst="rect">
            <a:avLst/>
          </a:prstGeom>
        </p:spPr>
      </p:pic>
      <p:pic>
        <p:nvPicPr>
          <p:cNvPr id="10" name="object 11">
            <a:extLst>
              <a:ext uri="{FF2B5EF4-FFF2-40B4-BE49-F238E27FC236}">
                <a16:creationId xmlns:a16="http://schemas.microsoft.com/office/drawing/2014/main" id="{26AD2650-1CE4-46A1-890B-E9A26EDAF96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9547" y="4178779"/>
            <a:ext cx="396775" cy="1629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A125642-7CFF-49E8-8AED-556DCCF7CB18}"/>
              </a:ext>
            </a:extLst>
          </p:cNvPr>
          <p:cNvSpPr/>
          <p:nvPr/>
        </p:nvSpPr>
        <p:spPr>
          <a:xfrm>
            <a:off x="7412480" y="3187537"/>
            <a:ext cx="27733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200025" algn="ctr">
              <a:lnSpc>
                <a:spcPct val="100000"/>
              </a:lnSpc>
              <a:spcBef>
                <a:spcPts val="5"/>
              </a:spcBef>
            </a:pPr>
            <a:r>
              <a:rPr lang="fr-FR" spc="-15" dirty="0">
                <a:solidFill>
                  <a:srgbClr val="00507C"/>
                </a:solidFill>
                <a:latin typeface="Roboto"/>
                <a:cs typeface="Roboto"/>
              </a:rPr>
              <a:t>L</a:t>
            </a:r>
            <a:r>
              <a:rPr lang="fr-FR" b="1" spc="-15" dirty="0">
                <a:solidFill>
                  <a:srgbClr val="00507C"/>
                </a:solidFill>
                <a:latin typeface="Roboto"/>
                <a:cs typeface="Roboto"/>
              </a:rPr>
              <a:t>’Europe</a:t>
            </a:r>
            <a:r>
              <a:rPr lang="fr-FR" b="1" spc="-1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b="1" dirty="0">
                <a:solidFill>
                  <a:srgbClr val="00507C"/>
                </a:solidFill>
                <a:latin typeface="Roboto"/>
                <a:cs typeface="Roboto"/>
              </a:rPr>
              <a:t>et</a:t>
            </a:r>
            <a:r>
              <a:rPr lang="fr-FR" b="1" spc="-5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b="1" spc="-20" dirty="0">
                <a:solidFill>
                  <a:srgbClr val="00507C"/>
                </a:solidFill>
                <a:latin typeface="Roboto"/>
                <a:cs typeface="Roboto"/>
              </a:rPr>
              <a:t>l’Asie</a:t>
            </a:r>
            <a:r>
              <a:rPr lang="fr-FR" b="1" spc="-5" dirty="0">
                <a:solidFill>
                  <a:srgbClr val="00507C"/>
                </a:solidFill>
                <a:latin typeface="Roboto"/>
                <a:cs typeface="Roboto"/>
              </a:rPr>
              <a:t> centrale</a:t>
            </a:r>
            <a:r>
              <a:rPr lang="fr-FR" b="1" spc="1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5" dirty="0">
                <a:solidFill>
                  <a:srgbClr val="00507C"/>
                </a:solidFill>
                <a:latin typeface="Roboto"/>
                <a:cs typeface="Roboto"/>
              </a:rPr>
              <a:t>, </a:t>
            </a:r>
            <a:r>
              <a:rPr lang="fr-FR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5" dirty="0">
                <a:solidFill>
                  <a:srgbClr val="00507C"/>
                </a:solidFill>
                <a:latin typeface="Roboto"/>
                <a:cs typeface="Roboto"/>
              </a:rPr>
              <a:t>l’</a:t>
            </a:r>
            <a:r>
              <a:rPr lang="fr-FR" b="1" spc="-5" dirty="0">
                <a:solidFill>
                  <a:srgbClr val="00507C"/>
                </a:solidFill>
                <a:latin typeface="Roboto"/>
                <a:cs typeface="Roboto"/>
              </a:rPr>
              <a:t>Amérique </a:t>
            </a:r>
            <a:r>
              <a:rPr lang="fr-FR" b="1" spc="-10" dirty="0">
                <a:solidFill>
                  <a:srgbClr val="00507C"/>
                </a:solidFill>
                <a:latin typeface="Roboto"/>
                <a:cs typeface="Roboto"/>
              </a:rPr>
              <a:t>du </a:t>
            </a:r>
            <a:r>
              <a:rPr lang="fr-FR" b="1" spc="-5" dirty="0">
                <a:solidFill>
                  <a:srgbClr val="00507C"/>
                </a:solidFill>
                <a:latin typeface="Roboto"/>
                <a:cs typeface="Roboto"/>
              </a:rPr>
              <a:t>Nord </a:t>
            </a:r>
            <a:r>
              <a:rPr lang="fr-FR" spc="-5" dirty="0">
                <a:solidFill>
                  <a:srgbClr val="00507C"/>
                </a:solidFill>
                <a:latin typeface="Roboto"/>
                <a:cs typeface="Roboto"/>
              </a:rPr>
              <a:t>et la région </a:t>
            </a:r>
            <a:r>
              <a:rPr lang="fr-FR" b="1" spc="-5" dirty="0">
                <a:solidFill>
                  <a:srgbClr val="00507C"/>
                </a:solidFill>
                <a:latin typeface="Roboto"/>
                <a:cs typeface="Roboto"/>
              </a:rPr>
              <a:t>MENA </a:t>
            </a:r>
            <a:r>
              <a:rPr lang="fr-FR" spc="-15" dirty="0">
                <a:solidFill>
                  <a:srgbClr val="00507C"/>
                </a:solidFill>
                <a:latin typeface="Roboto"/>
                <a:cs typeface="Roboto"/>
              </a:rPr>
              <a:t>sont </a:t>
            </a:r>
            <a:r>
              <a:rPr lang="fr-FR" spc="-10" dirty="0">
                <a:solidFill>
                  <a:srgbClr val="00507C"/>
                </a:solidFill>
                <a:latin typeface="Roboto"/>
                <a:cs typeface="Roboto"/>
              </a:rPr>
              <a:t>les </a:t>
            </a:r>
            <a:r>
              <a:rPr lang="fr-FR" spc="-15" dirty="0">
                <a:solidFill>
                  <a:srgbClr val="00507C"/>
                </a:solidFill>
                <a:latin typeface="Roboto"/>
                <a:cs typeface="Roboto"/>
              </a:rPr>
              <a:t>régions où </a:t>
            </a:r>
            <a:r>
              <a:rPr lang="fr-FR" spc="-31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20" dirty="0">
                <a:solidFill>
                  <a:srgbClr val="00507C"/>
                </a:solidFill>
                <a:latin typeface="Roboto"/>
                <a:cs typeface="Roboto"/>
              </a:rPr>
              <a:t>l’implantation d’internet </a:t>
            </a:r>
            <a:r>
              <a:rPr lang="fr-FR" spc="-10" dirty="0">
                <a:solidFill>
                  <a:srgbClr val="00507C"/>
                </a:solidFill>
                <a:latin typeface="Roboto"/>
                <a:cs typeface="Roboto"/>
              </a:rPr>
              <a:t>est </a:t>
            </a:r>
            <a:r>
              <a:rPr lang="fr-FR" spc="-31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15" dirty="0">
                <a:solidFill>
                  <a:srgbClr val="00507C"/>
                </a:solidFill>
                <a:latin typeface="Roboto"/>
                <a:cs typeface="Roboto"/>
              </a:rPr>
              <a:t>la</a:t>
            </a:r>
            <a:r>
              <a:rPr lang="fr-FR" spc="-10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20" dirty="0">
                <a:solidFill>
                  <a:srgbClr val="00507C"/>
                </a:solidFill>
                <a:latin typeface="Roboto"/>
                <a:cs typeface="Roboto"/>
              </a:rPr>
              <a:t>plus</a:t>
            </a:r>
            <a:r>
              <a:rPr lang="fr-FR" spc="-5" dirty="0">
                <a:solidFill>
                  <a:srgbClr val="00507C"/>
                </a:solidFill>
                <a:latin typeface="Roboto"/>
                <a:cs typeface="Roboto"/>
              </a:rPr>
              <a:t> </a:t>
            </a:r>
            <a:r>
              <a:rPr lang="fr-FR" spc="-10" dirty="0">
                <a:solidFill>
                  <a:srgbClr val="00507C"/>
                </a:solidFill>
                <a:latin typeface="Roboto"/>
                <a:cs typeface="Roboto"/>
              </a:rPr>
              <a:t>élevée.</a:t>
            </a:r>
            <a:endParaRPr lang="fr-FR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6260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05DCE8-7B3F-A691-3E9A-51A8BBCC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 spc="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Les</a:t>
            </a:r>
            <a:r>
              <a:rPr lang="en-US" sz="4200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distributions</a:t>
            </a:r>
            <a:r>
              <a:rPr lang="en-US" sz="4200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sont</a:t>
            </a:r>
            <a:r>
              <a:rPr lang="en-US" sz="4200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variées</a:t>
            </a:r>
            <a:r>
              <a:rPr lang="en-US" sz="4200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pour</a:t>
            </a:r>
            <a:r>
              <a:rPr lang="en-US" sz="4200" kern="1200" spc="1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l’implantation </a:t>
            </a:r>
            <a:r>
              <a:rPr lang="en-US" sz="4200" kern="1200" spc="-6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d’internet : </a:t>
            </a: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B376CB29-EC81-4E81-ABA7-BF2583A49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26217"/>
            <a:ext cx="6894576" cy="37230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EB58C5-FB42-49E8-AF81-F1F0DAB4A5B4}"/>
              </a:ext>
            </a:extLst>
          </p:cNvPr>
          <p:cNvSpPr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 spc="-20" dirty="0"/>
              <a:t>Une </a:t>
            </a:r>
            <a:r>
              <a:rPr lang="en-US" sz="2200" spc="-20"/>
              <a:t>grande</a:t>
            </a:r>
            <a:r>
              <a:rPr lang="en-US" sz="2200" spc="-20" dirty="0"/>
              <a:t> dispersion des </a:t>
            </a:r>
            <a:r>
              <a:rPr lang="en-US" sz="2200" spc="-20"/>
              <a:t>valeurs</a:t>
            </a:r>
            <a:r>
              <a:rPr lang="en-US" sz="2200" spc="-20" dirty="0"/>
              <a:t> pour</a:t>
            </a:r>
            <a:r>
              <a:rPr lang="en-US" sz="2200" spc="-10" dirty="0"/>
              <a:t> </a:t>
            </a:r>
            <a:r>
              <a:rPr lang="en-US" sz="2200" spc="-35"/>
              <a:t>l’Asie</a:t>
            </a:r>
            <a:r>
              <a:rPr lang="en-US" sz="2200" spc="-10" dirty="0"/>
              <a:t> de </a:t>
            </a:r>
            <a:r>
              <a:rPr lang="en-US" sz="2200" spc="-25"/>
              <a:t>l’Est</a:t>
            </a:r>
            <a:r>
              <a:rPr lang="en-US" sz="2200" spc="-5" dirty="0"/>
              <a:t> </a:t>
            </a:r>
            <a:r>
              <a:rPr lang="en-US" sz="2200" spc="-10" dirty="0"/>
              <a:t>et </a:t>
            </a:r>
            <a:r>
              <a:rPr lang="en-US" sz="2200" spc="-25" dirty="0"/>
              <a:t>du</a:t>
            </a:r>
            <a:r>
              <a:rPr lang="en-US" sz="2200" spc="-10" dirty="0"/>
              <a:t> </a:t>
            </a:r>
            <a:r>
              <a:rPr lang="en-US" sz="2200" spc="-15"/>
              <a:t>Paciﬁque</a:t>
            </a:r>
            <a:r>
              <a:rPr lang="en-US" sz="2200" spc="-10" dirty="0"/>
              <a:t> </a:t>
            </a:r>
            <a:r>
              <a:rPr lang="en-US" sz="2200" spc="-20"/>
              <a:t>allant</a:t>
            </a:r>
            <a:r>
              <a:rPr lang="en-US" sz="2200" spc="-5" dirty="0"/>
              <a:t> </a:t>
            </a:r>
            <a:r>
              <a:rPr lang="en-US" sz="2200" spc="-10" dirty="0"/>
              <a:t>de</a:t>
            </a:r>
            <a:r>
              <a:rPr lang="en-US" sz="2200" spc="-5" dirty="0"/>
              <a:t> </a:t>
            </a:r>
            <a:r>
              <a:rPr lang="en-US" sz="2200" spc="-10" dirty="0"/>
              <a:t>0</a:t>
            </a:r>
            <a:r>
              <a:rPr lang="en-US" sz="2200" spc="-5" dirty="0"/>
              <a:t> </a:t>
            </a:r>
            <a:r>
              <a:rPr lang="en-US" sz="2200" spc="-15" dirty="0"/>
              <a:t>à 92%.</a:t>
            </a:r>
            <a:endParaRPr lang="en-US" sz="2200" dirty="0"/>
          </a:p>
          <a:p>
            <a:pPr marL="12700" marR="379095" indent="-228600">
              <a:lnSpc>
                <a:spcPct val="90000"/>
              </a:lnSpc>
              <a:spcBef>
                <a:spcPts val="715"/>
              </a:spcBef>
              <a:buFont typeface="Arial" panose="020B0604020202020204" pitchFamily="34" charset="0"/>
              <a:buChar char="•"/>
            </a:pPr>
            <a:r>
              <a:rPr lang="en-US" sz="2200" spc="-10" dirty="0"/>
              <a:t>0</a:t>
            </a:r>
            <a:r>
              <a:rPr lang="en-US" sz="2200" spc="-15" dirty="0"/>
              <a:t> </a:t>
            </a:r>
            <a:r>
              <a:rPr lang="en-US" sz="2200" spc="-20"/>
              <a:t>étant</a:t>
            </a:r>
            <a:r>
              <a:rPr lang="en-US" sz="2200" spc="-10" dirty="0"/>
              <a:t> </a:t>
            </a:r>
            <a:r>
              <a:rPr lang="en-US" sz="2200" spc="-20" dirty="0"/>
              <a:t>la </a:t>
            </a:r>
            <a:r>
              <a:rPr lang="en-US" sz="2200" spc="-5"/>
              <a:t>Corée</a:t>
            </a:r>
            <a:r>
              <a:rPr lang="en-US" sz="2200" spc="-10" dirty="0"/>
              <a:t> </a:t>
            </a:r>
            <a:r>
              <a:rPr lang="en-US" sz="2200" spc="-25" dirty="0"/>
              <a:t>du</a:t>
            </a:r>
            <a:r>
              <a:rPr lang="en-US" sz="2200" spc="-15" dirty="0"/>
              <a:t> Nord </a:t>
            </a:r>
            <a:r>
              <a:rPr lang="en-US" sz="2200" spc="-15"/>
              <a:t>donc</a:t>
            </a:r>
            <a:r>
              <a:rPr lang="en-US" sz="2200" spc="-10" dirty="0"/>
              <a:t> </a:t>
            </a:r>
            <a:r>
              <a:rPr lang="en-US" sz="2200" spc="-20"/>
              <a:t>une</a:t>
            </a:r>
            <a:r>
              <a:rPr lang="en-US" sz="2200" spc="-20" dirty="0"/>
              <a:t> </a:t>
            </a:r>
            <a:r>
              <a:rPr lang="en-US" sz="2200" spc="-310" dirty="0"/>
              <a:t> </a:t>
            </a:r>
            <a:r>
              <a:rPr lang="en-US" sz="2200" spc="-25"/>
              <a:t>valeur</a:t>
            </a:r>
            <a:r>
              <a:rPr lang="en-US" sz="2200" spc="-10" dirty="0"/>
              <a:t> </a:t>
            </a:r>
            <a:r>
              <a:rPr lang="en-US" sz="2200" spc="-20"/>
              <a:t>très</a:t>
            </a:r>
            <a:r>
              <a:rPr lang="en-US" sz="2200" spc="-5" dirty="0"/>
              <a:t> </a:t>
            </a:r>
            <a:r>
              <a:rPr lang="en-US" sz="2200" spc="-15" dirty="0"/>
              <a:t>probable vu le régime politique.</a:t>
            </a:r>
            <a:endParaRPr lang="en-US" sz="2200" dirty="0"/>
          </a:p>
        </p:txBody>
      </p:sp>
      <p:pic>
        <p:nvPicPr>
          <p:cNvPr id="4" name="object 14">
            <a:extLst>
              <a:ext uri="{FF2B5EF4-FFF2-40B4-BE49-F238E27FC236}">
                <a16:creationId xmlns:a16="http://schemas.microsoft.com/office/drawing/2014/main" id="{FE8734E5-15DB-423C-87EF-BFE31C27A2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0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293108B-3473-44F3-9F44-D55F407A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fr-FR" sz="3400" dirty="0"/>
              <a:t>Quelles sont les régions ayant le plus de potentiel?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A73E8-02C2-322D-3DE7-899CB6A4D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656871" cy="2617617"/>
          </a:xfrm>
        </p:spPr>
        <p:txBody>
          <a:bodyPr>
            <a:normAutofit/>
          </a:bodyPr>
          <a:lstStyle/>
          <a:p>
            <a:pPr marL="348615" indent="-336550">
              <a:lnSpc>
                <a:spcPct val="100000"/>
              </a:lnSpc>
              <a:spcBef>
                <a:spcPts val="185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endParaRPr lang="fr-FR" sz="1800" spc="-5" dirty="0">
              <a:solidFill>
                <a:srgbClr val="548A2F"/>
              </a:solidFill>
              <a:latin typeface="Roboto"/>
              <a:cs typeface="Roboto"/>
            </a:endParaRPr>
          </a:p>
          <a:p>
            <a:pPr marL="348615" indent="-336550">
              <a:lnSpc>
                <a:spcPct val="100000"/>
              </a:lnSpc>
              <a:spcBef>
                <a:spcPts val="185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endParaRPr lang="fr-FR" sz="1800" spc="-5" dirty="0">
              <a:solidFill>
                <a:srgbClr val="548A2F"/>
              </a:solidFill>
              <a:latin typeface="Roboto"/>
              <a:cs typeface="Roboto"/>
            </a:endParaRPr>
          </a:p>
          <a:p>
            <a:pPr marL="12065" indent="0">
              <a:lnSpc>
                <a:spcPct val="100000"/>
              </a:lnSpc>
              <a:spcBef>
                <a:spcPts val="185"/>
              </a:spcBef>
              <a:buNone/>
              <a:tabLst>
                <a:tab pos="347980" algn="l"/>
                <a:tab pos="349250" algn="l"/>
              </a:tabLst>
            </a:pP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On remarque le même trio en tête du classement : </a:t>
            </a:r>
          </a:p>
          <a:p>
            <a:pPr marL="348615" indent="-336550">
              <a:lnSpc>
                <a:spcPct val="100000"/>
              </a:lnSpc>
              <a:spcBef>
                <a:spcPts val="185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endParaRPr lang="fr-FR" sz="1800" spc="-5" dirty="0">
              <a:solidFill>
                <a:schemeClr val="accent1">
                  <a:lumMod val="75000"/>
                </a:schemeClr>
              </a:solidFill>
              <a:latin typeface="Roboto"/>
              <a:cs typeface="Roboto"/>
            </a:endParaRPr>
          </a:p>
          <a:p>
            <a:pPr marL="348615" indent="-336550">
              <a:lnSpc>
                <a:spcPct val="100000"/>
              </a:lnSpc>
              <a:spcBef>
                <a:spcPts val="185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Asie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de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2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l’Est</a:t>
            </a: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et </a:t>
            </a:r>
            <a:r>
              <a:rPr lang="fr-FR" sz="1800" spc="-15" dirty="0" err="1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Paciﬁque</a:t>
            </a:r>
            <a:endParaRPr lang="fr-FR" sz="1800" dirty="0">
              <a:solidFill>
                <a:schemeClr val="accent1">
                  <a:lumMod val="75000"/>
                </a:schemeClr>
              </a:solidFill>
              <a:latin typeface="Roboto"/>
              <a:cs typeface="Roboto"/>
            </a:endParaRPr>
          </a:p>
          <a:p>
            <a:pPr marL="348615" indent="-336550">
              <a:lnSpc>
                <a:spcPct val="100000"/>
              </a:lnSpc>
              <a:spcBef>
                <a:spcPts val="80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r>
              <a:rPr lang="fr-FR" sz="1800" spc="-1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Europe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et </a:t>
            </a: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Asie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1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Centrale</a:t>
            </a:r>
            <a:endParaRPr lang="fr-FR" sz="1800" dirty="0">
              <a:solidFill>
                <a:schemeClr val="accent1">
                  <a:lumMod val="75000"/>
                </a:schemeClr>
              </a:solidFill>
              <a:latin typeface="Roboto"/>
              <a:cs typeface="Roboto"/>
            </a:endParaRPr>
          </a:p>
          <a:p>
            <a:pPr marL="348615" indent="-336550">
              <a:lnSpc>
                <a:spcPct val="100000"/>
              </a:lnSpc>
              <a:spcBef>
                <a:spcPts val="80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r>
              <a:rPr lang="fr-FR" sz="1800" spc="-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Amérique</a:t>
            </a:r>
            <a:r>
              <a:rPr lang="fr-FR" sz="1800" spc="-4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1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latine</a:t>
            </a:r>
            <a:r>
              <a:rPr lang="fr-FR" sz="1800" spc="-4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et </a:t>
            </a:r>
            <a:r>
              <a:rPr lang="fr-FR" sz="1800" spc="-335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fr-FR" sz="1800" spc="-10" dirty="0">
                <a:solidFill>
                  <a:schemeClr val="accent1">
                    <a:lumMod val="75000"/>
                  </a:schemeClr>
                </a:solidFill>
                <a:latin typeface="Roboto"/>
                <a:cs typeface="Roboto"/>
              </a:rPr>
              <a:t>Caribéenne</a:t>
            </a:r>
            <a:endParaRPr lang="fr-FR" sz="1800" dirty="0">
              <a:solidFill>
                <a:schemeClr val="accent1">
                  <a:lumMod val="75000"/>
                </a:schemeClr>
              </a:solidFill>
              <a:latin typeface="Roboto"/>
              <a:cs typeface="Roboto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234D06C-9F0D-430A-B3CA-E46208A2B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424" y="517600"/>
            <a:ext cx="5056591" cy="27432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33398AD-0A2F-4944-BE86-EBB3AD55E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982" y="3429000"/>
            <a:ext cx="5127475" cy="2743200"/>
          </a:xfrm>
          <a:prstGeom prst="rect">
            <a:avLst/>
          </a:prstGeom>
        </p:spPr>
      </p:pic>
      <p:pic>
        <p:nvPicPr>
          <p:cNvPr id="15" name="object 14">
            <a:extLst>
              <a:ext uri="{FF2B5EF4-FFF2-40B4-BE49-F238E27FC236}">
                <a16:creationId xmlns:a16="http://schemas.microsoft.com/office/drawing/2014/main" id="{585917EE-9ED6-466D-ABDE-5C2D18E8EA1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4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5B9901-C61D-4046-9064-EFAF6D06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919424"/>
          </a:xfrm>
        </p:spPr>
        <p:txBody>
          <a:bodyPr anchor="ctr">
            <a:normAutofit fontScale="90000"/>
          </a:bodyPr>
          <a:lstStyle/>
          <a:p>
            <a:r>
              <a:rPr lang="fr-FR" sz="4800" dirty="0"/>
              <a:t>Sélection des pays à très grand potentiel :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2068295-94C2-07BD-C827-1689C4A4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1786" y="3429000"/>
            <a:ext cx="3424652" cy="255233"/>
          </a:xfrm>
        </p:spPr>
        <p:txBody>
          <a:bodyPr anchor="ctr">
            <a:normAutofit fontScale="62500" lnSpcReduction="20000"/>
          </a:bodyPr>
          <a:lstStyle/>
          <a:p>
            <a:r>
              <a:rPr lang="en-US" sz="2200" dirty="0"/>
              <a:t>Application d’un </a:t>
            </a:r>
            <a:r>
              <a:rPr lang="en-US" sz="2200" dirty="0" err="1"/>
              <a:t>filtre</a:t>
            </a:r>
            <a:r>
              <a:rPr lang="en-US" sz="2200" dirty="0"/>
              <a:t> plus </a:t>
            </a:r>
            <a:r>
              <a:rPr lang="en-US" sz="2200" dirty="0" err="1"/>
              <a:t>stricte</a:t>
            </a:r>
            <a:r>
              <a:rPr lang="en-US" sz="2200" dirty="0"/>
              <a:t> :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8C296D-A895-457C-937F-58D8ECFED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1" y="1833824"/>
            <a:ext cx="3630335" cy="4898572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CD56A03-8DCE-4FC8-9B8C-64D34CBE1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021" y="1095271"/>
            <a:ext cx="5108743" cy="5762730"/>
          </a:xfrm>
          <a:prstGeom prst="rect">
            <a:avLst/>
          </a:prstGeom>
        </p:spPr>
      </p:pic>
      <p:sp>
        <p:nvSpPr>
          <p:cNvPr id="8" name="Flèche : droite rayée 7">
            <a:extLst>
              <a:ext uri="{FF2B5EF4-FFF2-40B4-BE49-F238E27FC236}">
                <a16:creationId xmlns:a16="http://schemas.microsoft.com/office/drawing/2014/main" id="{84FDB97C-98D3-4B64-8FEE-B2EF29332E2B}"/>
              </a:ext>
            </a:extLst>
          </p:cNvPr>
          <p:cNvSpPr/>
          <p:nvPr/>
        </p:nvSpPr>
        <p:spPr>
          <a:xfrm>
            <a:off x="4376757" y="3684598"/>
            <a:ext cx="1969689" cy="46212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F1D397-7F18-442E-AD88-0DC598501E30}"/>
              </a:ext>
            </a:extLst>
          </p:cNvPr>
          <p:cNvSpPr txBox="1"/>
          <p:nvPr/>
        </p:nvSpPr>
        <p:spPr>
          <a:xfrm>
            <a:off x="4225771" y="4078425"/>
            <a:ext cx="252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60% </a:t>
            </a:r>
            <a:r>
              <a:rPr lang="en-US" sz="1400" dirty="0" err="1"/>
              <a:t>d’accés</a:t>
            </a:r>
            <a:r>
              <a:rPr lang="en-US" sz="1400" dirty="0"/>
              <a:t> à Internet et </a:t>
            </a:r>
            <a:r>
              <a:rPr lang="fr-FR" sz="1400" dirty="0"/>
              <a:t>Population</a:t>
            </a:r>
            <a:r>
              <a:rPr lang="en-US" sz="1400" dirty="0"/>
              <a:t> &gt;2,1m</a:t>
            </a:r>
            <a:endParaRPr lang="fr-FR" sz="1400" dirty="0"/>
          </a:p>
        </p:txBody>
      </p:sp>
      <p:pic>
        <p:nvPicPr>
          <p:cNvPr id="17" name="object 14">
            <a:extLst>
              <a:ext uri="{FF2B5EF4-FFF2-40B4-BE49-F238E27FC236}">
                <a16:creationId xmlns:a16="http://schemas.microsoft.com/office/drawing/2014/main" id="{972A5135-BD61-4C2B-BAD9-FCAFB72C2D7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31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ED677DA-85D4-47C8-88C6-34B235E1A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9" y="762773"/>
            <a:ext cx="7140874" cy="5607882"/>
          </a:xfrm>
          <a:prstGeom prst="rect">
            <a:avLst/>
          </a:prstGeom>
        </p:spPr>
      </p:pic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B48E38-F992-4C99-A388-F8CFC5A2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Perspectives d’évolution pour les pays retenus :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F7973D-39BD-266E-6D9F-7C24AA909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496" y="4301656"/>
            <a:ext cx="2705619" cy="76261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 </a:t>
            </a: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croissance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 et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rapide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l’ensemble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pays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terme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d’accès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l’internet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</p:txBody>
      </p:sp>
      <p:pic>
        <p:nvPicPr>
          <p:cNvPr id="18" name="object 14">
            <a:extLst>
              <a:ext uri="{FF2B5EF4-FFF2-40B4-BE49-F238E27FC236}">
                <a16:creationId xmlns:a16="http://schemas.microsoft.com/office/drawing/2014/main" id="{E49EB20C-A6F9-43E9-9D5D-F84FBA54024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20" name="object 7">
            <a:extLst>
              <a:ext uri="{FF2B5EF4-FFF2-40B4-BE49-F238E27FC236}">
                <a16:creationId xmlns:a16="http://schemas.microsoft.com/office/drawing/2014/main" id="{8D0E9558-7913-4FD9-A245-7CB6C1D98F0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7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F054CD-84F6-4F3E-BDBD-BA204BBC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fr-FR" sz="3600"/>
              <a:t>L’évolution du nombre d’ étudiants 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12B19D2-535F-41C0-ACF1-E15FE0596B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1" r="27325" b="-1"/>
          <a:stretch/>
        </p:blipFill>
        <p:spPr>
          <a:xfrm>
            <a:off x="576244" y="650494"/>
            <a:ext cx="5628018" cy="532414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2A4915BE-72DB-8083-B9BB-DE4697DD7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Evolution rapide pour la Chine et L’Inde.</a:t>
            </a:r>
          </a:p>
          <a:p>
            <a:r>
              <a:rPr lang="en-US" sz="1800"/>
              <a:t>Croissance lente et stagnante pour le reste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object 14">
            <a:extLst>
              <a:ext uri="{FF2B5EF4-FFF2-40B4-BE49-F238E27FC236}">
                <a16:creationId xmlns:a16="http://schemas.microsoft.com/office/drawing/2014/main" id="{753FBCBF-BF31-4165-BBD5-1CF84A781E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24" name="object 7">
            <a:extLst>
              <a:ext uri="{FF2B5EF4-FFF2-40B4-BE49-F238E27FC236}">
                <a16:creationId xmlns:a16="http://schemas.microsoft.com/office/drawing/2014/main" id="{CF5CE4FD-4742-41F7-9C99-5323EACCB2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78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C9C8D4F-EC0B-4BCA-A2B0-3CB294594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5200" dirty="0"/>
              <a:t>Conclusions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5E991-9960-66E9-38A0-6EDE744552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15" r="13661" b="2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4F59A4DC-49AE-4100-9376-80F6C5542B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23" y="6420411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20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376EB9-712D-443A-A192-C7BB586C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fr-FR" sz="3800" dirty="0"/>
              <a:t>Dans quels pays devrait on opérer en priorité?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9F0A31-7626-D14F-2D01-20C7F4EE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Angleterre</a:t>
            </a:r>
            <a:endParaRPr lang="en-US" sz="2200" dirty="0"/>
          </a:p>
          <a:p>
            <a:r>
              <a:rPr lang="en-US" sz="2200" dirty="0"/>
              <a:t>USA</a:t>
            </a:r>
          </a:p>
          <a:p>
            <a:r>
              <a:rPr lang="en-US" sz="2200" dirty="0"/>
              <a:t>Russia</a:t>
            </a:r>
          </a:p>
          <a:p>
            <a:r>
              <a:rPr lang="fr-FR" sz="2200" dirty="0"/>
              <a:t>Brésil</a:t>
            </a:r>
            <a:r>
              <a:rPr lang="en-US" sz="2200" dirty="0"/>
              <a:t> </a:t>
            </a:r>
          </a:p>
          <a:p>
            <a:r>
              <a:rPr lang="fr-FR" sz="2200" dirty="0"/>
              <a:t>Japon</a:t>
            </a:r>
          </a:p>
          <a:p>
            <a:r>
              <a:rPr lang="en-US" sz="2200" dirty="0" err="1"/>
              <a:t>L’Arabie</a:t>
            </a:r>
            <a:r>
              <a:rPr lang="en-US" sz="2200" dirty="0"/>
              <a:t> </a:t>
            </a:r>
            <a:r>
              <a:rPr lang="fr-FR" sz="2200" dirty="0"/>
              <a:t>Saoudite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5A5E7FD-88DE-47BB-A0AC-220D3E4F4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82255"/>
            <a:ext cx="6903720" cy="3693490"/>
          </a:xfrm>
          <a:prstGeom prst="rect">
            <a:avLst/>
          </a:prstGeom>
        </p:spPr>
      </p:pic>
      <p:pic>
        <p:nvPicPr>
          <p:cNvPr id="10" name="object 14">
            <a:extLst>
              <a:ext uri="{FF2B5EF4-FFF2-40B4-BE49-F238E27FC236}">
                <a16:creationId xmlns:a16="http://schemas.microsoft.com/office/drawing/2014/main" id="{1EDA3660-A618-49BD-BD01-AE68892BEC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11" name="object 7">
            <a:extLst>
              <a:ext uri="{FF2B5EF4-FFF2-40B4-BE49-F238E27FC236}">
                <a16:creationId xmlns:a16="http://schemas.microsoft.com/office/drawing/2014/main" id="{4DBFCFAC-710C-45C5-B7A7-1ADB1CA3A4B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44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5609DE-6D4C-4DDD-80CC-3F17BD3A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87051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pic>
        <p:nvPicPr>
          <p:cNvPr id="12" name="Picture 4" descr="Point d’exclamation sur un arrière-plan jaune">
            <a:extLst>
              <a:ext uri="{FF2B5EF4-FFF2-40B4-BE49-F238E27FC236}">
                <a16:creationId xmlns:a16="http://schemas.microsoft.com/office/drawing/2014/main" id="{AEA531ED-542F-C6E4-5575-8ED76A5B4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13" r="10096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E3C38C-0B41-4C01-905E-B2C5CF53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1215851"/>
            <a:ext cx="4840010" cy="4961112"/>
          </a:xfrm>
        </p:spPr>
        <p:txBody>
          <a:bodyPr>
            <a:normAutofit/>
          </a:bodyPr>
          <a:lstStyle/>
          <a:p>
            <a:pPr marL="0" marR="5080" indent="0">
              <a:spcBef>
                <a:spcPts val="260"/>
              </a:spcBef>
              <a:buNone/>
            </a:pP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Le jeu de donné bien que dense, nous a permis de bien sélectionner des indicateurs pertinents, cependant, il présente quelques limites :</a:t>
            </a:r>
            <a:endParaRPr lang="fr-FR" sz="1400" spc="-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3505" marR="5080" indent="-336550">
              <a:spcBef>
                <a:spcPts val="1700"/>
              </a:spcBef>
              <a:buFont typeface="Arial MT"/>
              <a:buChar char="●"/>
              <a:tabLst>
                <a:tab pos="1373505" algn="l"/>
                <a:tab pos="1374140" algn="l"/>
              </a:tabLst>
            </a:pP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Manque d’indicateurs business</a:t>
            </a:r>
            <a:r>
              <a:rPr lang="fr-FR" sz="1400" spc="-7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10" dirty="0">
                <a:latin typeface="Arial" panose="020B0604020202020204" pitchFamily="34" charset="0"/>
                <a:cs typeface="Arial" panose="020B0604020202020204" pitchFamily="34" charset="0"/>
              </a:rPr>
              <a:t>pénétration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25" dirty="0" err="1">
                <a:latin typeface="Arial" panose="020B0604020202020204" pitchFamily="34" charset="0"/>
                <a:cs typeface="Arial" panose="020B0604020202020204" pitchFamily="34" charset="0"/>
              </a:rPr>
              <a:t>Moocs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dépense </a:t>
            </a:r>
            <a:r>
              <a:rPr lang="fr-FR" sz="1400" spc="10" dirty="0"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</a:p>
          <a:p>
            <a:pPr marL="1373505" marR="99060" indent="-336550">
              <a:spcBef>
                <a:spcPts val="1650"/>
              </a:spcBef>
              <a:buFont typeface="Arial MT"/>
              <a:buChar char="●"/>
              <a:tabLst>
                <a:tab pos="1373505" algn="l"/>
                <a:tab pos="1374140" algn="l"/>
              </a:tabLst>
            </a:pPr>
            <a:r>
              <a:rPr lang="fr-FR" sz="1400" spc="5" dirty="0">
                <a:latin typeface="Arial" panose="020B0604020202020204" pitchFamily="34" charset="0"/>
                <a:cs typeface="Arial" panose="020B0604020202020204" pitchFamily="34" charset="0"/>
              </a:rPr>
              <a:t>Manque d’informations quant à la politique d’</a:t>
            </a:r>
            <a:r>
              <a:rPr lang="fr-FR" sz="1400" spc="5" dirty="0" err="1">
                <a:latin typeface="Arial" panose="020B0604020202020204" pitchFamily="34" charset="0"/>
                <a:cs typeface="Arial" panose="020B0604020202020204" pitchFamily="34" charset="0"/>
              </a:rPr>
              <a:t>Academy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15" dirty="0">
                <a:latin typeface="Arial" panose="020B0604020202020204" pitchFamily="34" charset="0"/>
                <a:cs typeface="Arial" panose="020B0604020202020204" pitchFamily="34" charset="0"/>
              </a:rPr>
              <a:t>pour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10" dirty="0">
                <a:latin typeface="Arial" panose="020B0604020202020204" pitchFamily="34" charset="0"/>
                <a:cs typeface="Arial" panose="020B0604020202020204" pitchFamily="34" charset="0"/>
              </a:rPr>
              <a:t>guider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l’étude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400" spc="15" dirty="0">
                <a:latin typeface="Arial" panose="020B0604020202020204" pitchFamily="34" charset="0"/>
                <a:cs typeface="Arial" panose="020B0604020202020204" pitchFamily="34" charset="0"/>
              </a:rPr>
              <a:t>proximité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géographique, </a:t>
            </a:r>
            <a:r>
              <a:rPr lang="fr-FR" sz="1400" spc="-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concurrence, </a:t>
            </a:r>
            <a:r>
              <a:rPr lang="fr-FR" sz="1400" spc="-10" dirty="0">
                <a:latin typeface="Roboto"/>
                <a:cs typeface="Roboto"/>
              </a:rPr>
              <a:t>les</a:t>
            </a:r>
            <a:r>
              <a:rPr lang="fr-FR" sz="1400" dirty="0">
                <a:latin typeface="Roboto"/>
                <a:cs typeface="Roboto"/>
              </a:rPr>
              <a:t> </a:t>
            </a:r>
            <a:r>
              <a:rPr lang="fr-FR" sz="1400" spc="-20" dirty="0">
                <a:latin typeface="Roboto"/>
                <a:cs typeface="Roboto"/>
              </a:rPr>
              <a:t>langues</a:t>
            </a:r>
            <a:r>
              <a:rPr lang="fr-FR" sz="1400" spc="5" dirty="0">
                <a:latin typeface="Roboto"/>
                <a:cs typeface="Roboto"/>
              </a:rPr>
              <a:t> </a:t>
            </a:r>
            <a:r>
              <a:rPr lang="fr-FR" sz="1400" spc="-15" dirty="0">
                <a:latin typeface="Roboto"/>
                <a:cs typeface="Roboto"/>
              </a:rPr>
              <a:t>locales (</a:t>
            </a:r>
            <a:r>
              <a:rPr lang="fr-FR" sz="1400" spc="-25" dirty="0">
                <a:latin typeface="Roboto"/>
                <a:cs typeface="Roboto"/>
              </a:rPr>
              <a:t>entraînerait</a:t>
            </a:r>
            <a:r>
              <a:rPr lang="fr-FR" sz="1400" dirty="0">
                <a:latin typeface="Roboto"/>
                <a:cs typeface="Roboto"/>
              </a:rPr>
              <a:t> </a:t>
            </a:r>
            <a:r>
              <a:rPr lang="fr-FR" sz="1400" spc="-20" dirty="0">
                <a:latin typeface="Roboto"/>
                <a:cs typeface="Roboto"/>
              </a:rPr>
              <a:t>une </a:t>
            </a:r>
            <a:r>
              <a:rPr lang="fr-FR" sz="1400" spc="-430" dirty="0">
                <a:latin typeface="Roboto"/>
                <a:cs typeface="Roboto"/>
              </a:rPr>
              <a:t> </a:t>
            </a:r>
            <a:r>
              <a:rPr lang="fr-FR" sz="1400" spc="-25" dirty="0">
                <a:latin typeface="Roboto"/>
                <a:cs typeface="Roboto"/>
              </a:rPr>
              <a:t>traduction</a:t>
            </a:r>
            <a:r>
              <a:rPr lang="fr-FR" sz="1400" spc="-10" dirty="0">
                <a:latin typeface="Roboto"/>
                <a:cs typeface="Roboto"/>
              </a:rPr>
              <a:t> </a:t>
            </a:r>
            <a:r>
              <a:rPr lang="fr-FR" sz="1400" spc="-25" dirty="0">
                <a:latin typeface="Roboto"/>
                <a:cs typeface="Roboto"/>
              </a:rPr>
              <a:t>du</a:t>
            </a:r>
            <a:r>
              <a:rPr lang="fr-FR" sz="1400" spc="-5" dirty="0">
                <a:latin typeface="Roboto"/>
                <a:cs typeface="Roboto"/>
              </a:rPr>
              <a:t> </a:t>
            </a:r>
            <a:r>
              <a:rPr lang="fr-FR" sz="1400" spc="-15" dirty="0">
                <a:latin typeface="Roboto"/>
                <a:cs typeface="Roboto"/>
              </a:rPr>
              <a:t>site</a:t>
            </a:r>
            <a:r>
              <a:rPr lang="fr-FR" sz="1400" spc="-5" dirty="0">
                <a:latin typeface="Roboto"/>
                <a:cs typeface="Roboto"/>
              </a:rPr>
              <a:t> </a:t>
            </a:r>
            <a:r>
              <a:rPr lang="fr-FR" sz="1400" spc="-10" dirty="0">
                <a:latin typeface="Roboto"/>
                <a:cs typeface="Roboto"/>
              </a:rPr>
              <a:t>et</a:t>
            </a:r>
            <a:r>
              <a:rPr lang="fr-FR" sz="1400" spc="-5" dirty="0">
                <a:latin typeface="Roboto"/>
                <a:cs typeface="Roboto"/>
              </a:rPr>
              <a:t> </a:t>
            </a:r>
            <a:r>
              <a:rPr lang="fr-FR" sz="1400" spc="-10" dirty="0">
                <a:latin typeface="Roboto"/>
                <a:cs typeface="Roboto"/>
              </a:rPr>
              <a:t>des</a:t>
            </a:r>
            <a:r>
              <a:rPr lang="fr-FR" sz="1400" spc="-5" dirty="0">
                <a:latin typeface="Roboto"/>
                <a:cs typeface="Roboto"/>
              </a:rPr>
              <a:t> </a:t>
            </a:r>
            <a:r>
              <a:rPr lang="fr-FR" sz="1400" spc="-15" dirty="0">
                <a:latin typeface="Roboto"/>
                <a:cs typeface="Roboto"/>
              </a:rPr>
              <a:t>supports</a:t>
            </a:r>
            <a:r>
              <a:rPr lang="fr-FR" sz="1400" spc="-5" dirty="0">
                <a:latin typeface="Roboto"/>
                <a:cs typeface="Roboto"/>
              </a:rPr>
              <a:t> de </a:t>
            </a:r>
            <a:r>
              <a:rPr lang="fr-FR" sz="1400" spc="-20" dirty="0">
                <a:latin typeface="Roboto"/>
                <a:cs typeface="Roboto"/>
              </a:rPr>
              <a:t>cours)</a:t>
            </a:r>
            <a:endParaRPr lang="fr-FR" sz="1400" spc="-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3505" marR="99060" indent="-336550">
              <a:spcBef>
                <a:spcPts val="1650"/>
              </a:spcBef>
              <a:buFont typeface="Arial MT"/>
              <a:buChar char="●"/>
              <a:tabLst>
                <a:tab pos="1373505" algn="l"/>
                <a:tab pos="1374140" algn="l"/>
              </a:tabLst>
            </a:pP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Inexploitation de beaucoup d’indicateurs à cause des valeurs manquantes</a:t>
            </a:r>
            <a:endParaRPr lang="fr-FR" sz="1400" spc="-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" marR="34925" indent="0">
              <a:spcBef>
                <a:spcPts val="5"/>
              </a:spcBef>
              <a:buNone/>
              <a:tabLst>
                <a:tab pos="469265" algn="l"/>
                <a:tab pos="469900" algn="l"/>
              </a:tabLst>
            </a:pPr>
            <a:endParaRPr lang="fr-FR" sz="1400" dirty="0"/>
          </a:p>
        </p:txBody>
      </p:sp>
      <p:pic>
        <p:nvPicPr>
          <p:cNvPr id="8" name="object 14">
            <a:extLst>
              <a:ext uri="{FF2B5EF4-FFF2-40B4-BE49-F238E27FC236}">
                <a16:creationId xmlns:a16="http://schemas.microsoft.com/office/drawing/2014/main" id="{ED2AF1E4-3DE1-42B6-B763-D2C3105E2C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806" y="6212033"/>
            <a:ext cx="1717167" cy="535999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8115D9D3-D3B7-490B-A817-3376A5580A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28" y="6428449"/>
            <a:ext cx="319599" cy="3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9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763</Words>
  <Application>Microsoft Office PowerPoint</Application>
  <PresentationFormat>Grand écran</PresentationFormat>
  <Paragraphs>131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Microsoft Sans Serif</vt:lpstr>
      <vt:lpstr>Roboto</vt:lpstr>
      <vt:lpstr>Walbaum Display</vt:lpstr>
      <vt:lpstr>Office Theme</vt:lpstr>
      <vt:lpstr>ANALYSE DE DONNÉES  de systèmes éducatifs</vt:lpstr>
      <vt:lpstr>Problématique : </vt:lpstr>
      <vt:lpstr>Découverte des données : </vt:lpstr>
      <vt:lpstr>Des DataSets qui dépendent les uns des autres : </vt:lpstr>
      <vt:lpstr>Quelle est la qualité de notre jeu de données?</vt:lpstr>
      <vt:lpstr>Analyse du remplissage pour EdStatsData</vt:lpstr>
      <vt:lpstr>Exploration des données :</vt:lpstr>
      <vt:lpstr> Inégalité du nombre de données par pays</vt:lpstr>
      <vt:lpstr>Présentation PowerPoint</vt:lpstr>
      <vt:lpstr> Sélection des indicateurs -  Brainstorming</vt:lpstr>
      <vt:lpstr>Parmis les 4000 indicateurs voici ceux que nous  avons retenu : </vt:lpstr>
      <vt:lpstr>Le remplissage du dataframe selon les indicateurs séléctionnés : </vt:lpstr>
      <vt:lpstr>Le remplissage des indicateurs séléctionnés :</vt:lpstr>
      <vt:lpstr>Séléction des pays :</vt:lpstr>
      <vt:lpstr>Exemple de statistiques descriptives par régions : </vt:lpstr>
      <vt:lpstr>Les distributions sont variées pour l’implantation  d’internet : </vt:lpstr>
      <vt:lpstr>Quelles sont les régions ayant le plus de potentiel?</vt:lpstr>
      <vt:lpstr>Sélection des pays à très grand potentiel :</vt:lpstr>
      <vt:lpstr>Perspectives d’évolution pour les pays retenus : </vt:lpstr>
      <vt:lpstr>L’évolution du nombre d’ étudiants :</vt:lpstr>
      <vt:lpstr>Conclusions </vt:lpstr>
      <vt:lpstr>Dans quels pays devrait on opérer en priorité?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 DONNÉES  de systèmes éducatifs</dc:title>
  <dc:creator>Mohammed EL Haouzi</dc:creator>
  <cp:lastModifiedBy> </cp:lastModifiedBy>
  <cp:revision>5</cp:revision>
  <dcterms:created xsi:type="dcterms:W3CDTF">2023-04-12T17:30:54Z</dcterms:created>
  <dcterms:modified xsi:type="dcterms:W3CDTF">2023-04-12T17:44:48Z</dcterms:modified>
</cp:coreProperties>
</file>